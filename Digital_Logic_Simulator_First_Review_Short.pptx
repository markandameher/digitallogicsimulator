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E94560"/>
                </a:solidFill>
              </a:defRPr>
            </a:pPr>
            <a:r>
              <a:t>ADVANCED DATA STRUCTURES &amp; ALGORITHMS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Digital Logic Circuit Simulator</a:t>
            </a:r>
          </a:p>
          <a:p>
            <a:pPr>
              <a:spcAft>
                <a:spcPts val="2600"/>
              </a:spcAft>
              <a:defRPr sz="1600">
                <a:solidFill>
                  <a:srgbClr val="D2E1F5"/>
                </a:solidFill>
              </a:defRPr>
            </a:pPr>
            <a:r>
              <a:t>Graph-Theoretic Logic Simulation, Cycle Detection &amp; Interactive EDA System</a:t>
            </a:r>
          </a:p>
          <a:p>
            <a:pPr>
              <a:spcAft>
                <a:spcPts val="2200"/>
              </a:spcAft>
              <a:defRPr sz="1200">
                <a:solidFill>
                  <a:srgbClr val="533483"/>
                </a:solidFill>
              </a:defRPr>
            </a:pPr>
            <a:r>
              <a:t>━━━━━━━━━━━━━━━━━━━━━━━━━━━━━━━━━━━━━━━━━━━━━━</a:t>
            </a:r>
          </a:p>
          <a:p>
            <a:pPr>
              <a:defRPr sz="1300" b="1">
                <a:solidFill>
                  <a:srgbClr val="E94560"/>
                </a:solidFill>
              </a:defRPr>
            </a:pPr>
            <a:r>
              <a:t>Team Members:</a:t>
            </a:r>
          </a:p>
          <a:p>
            <a:pPr>
              <a:spcAft>
                <a:spcPts val="1800"/>
              </a:spcAft>
              <a:defRPr sz="1400">
                <a:solidFill>
                  <a:srgbClr val="FFFFFF"/>
                </a:solidFill>
              </a:defRPr>
            </a:pPr>
            <a:r>
              <a:t>• Markanda Meher  —  Roll No. 206126020</a:t>
            </a:r>
            <a:br/>
            <a:r>
              <a:t>• Nikhil                    —  Roll No. 206126021</a:t>
            </a:r>
          </a:p>
          <a:p>
            <a:pPr>
              <a:defRPr sz="1200">
                <a:solidFill>
                  <a:srgbClr val="B4C3D7"/>
                </a:solidFill>
              </a:defRPr>
            </a:pPr>
            <a:r>
              <a:t>First Review — October 12, 2026 (Presentation: 9 Slides Concise Format)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4560"/>
                </a:solidFill>
              </a:defRPr>
            </a:pPr>
            <a:r>
              <a:t>FIRST REVIEW — OCTOBER 12, 2026 | SLIDE 2 OF 9</a:t>
            </a:r>
          </a:p>
          <a:p>
            <a:pPr>
              <a:defRPr sz="2200" b="1">
                <a:solidFill>
                  <a:srgbClr val="0F3460"/>
                </a:solidFill>
              </a:defRPr>
            </a:pPr>
            <a:r>
              <a:t>1. Introduction — Problem Statement &amp; Need to be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6E7D"/>
                </a:solidFill>
              </a:defRPr>
            </a:pPr>
            <a:r>
              <a:t>Digital Logic Circuit Simulator | Team: Markanda Meher (206126020) &amp; Nikhil (206126021) | Dept. of CSE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754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E94560"/>
                </a:solidFill>
              </a:defRPr>
            </a:pPr>
            <a:r>
              <a:t>The Problem: Physical Hardware Bottlenecks</a:t>
            </a:r>
          </a:p>
          <a:p>
            <a:pPr>
              <a:spcAft>
                <a:spcPts val="200"/>
              </a:spcAft>
              <a:defRPr b="1" sz="1100">
                <a:solidFill>
                  <a:srgbClr val="0F3460"/>
                </a:solidFill>
              </a:defRPr>
            </a:pPr>
            <a:r>
              <a:t>• Fragile Connections &amp; Wire Clutter: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Physical breadboards suffer from loose jumper contacts, pin damage, and wiring complexity that obscures circuit logic.</a:t>
            </a:r>
          </a:p>
          <a:p>
            <a:pPr>
              <a:spcAft>
                <a:spcPts val="200"/>
              </a:spcAft>
              <a:defRPr b="1" sz="1100">
                <a:solidFill>
                  <a:srgbClr val="0F3460"/>
                </a:solidFill>
              </a:defRPr>
            </a:pPr>
            <a:r>
              <a:t>• No Pre-Simulation Safety: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Accidental feedback loops or short circuits cause permanent component burnouts with no diagnostic warnings.</a:t>
            </a:r>
          </a:p>
          <a:p>
            <a:pPr>
              <a:spcAft>
                <a:spcPts val="200"/>
              </a:spcAft>
              <a:defRPr b="1" sz="1100">
                <a:solidFill>
                  <a:srgbClr val="0F3460"/>
                </a:solidFill>
              </a:defRPr>
            </a:pPr>
            <a:r>
              <a:t>• High Lab Cost: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Oscilloscopes, logic analyzers, and discrete IC inventories require recurring institutional expenses and lack remote access.</a:t>
            </a:r>
          </a:p>
          <a:p>
            <a:pPr>
              <a:spcAft>
                <a:spcPts val="200"/>
              </a:spcAft>
              <a:defRPr b="1" sz="1100">
                <a:solidFill>
                  <a:srgbClr val="0F3460"/>
                </a:solidFill>
              </a:defRPr>
            </a:pPr>
            <a:r>
              <a:t>• Opaque Internal States: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Physically probing dozens of internal nodes simultaneously is cumbersome without software visualization.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754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3460"/>
                </a:solidFill>
              </a:defRPr>
            </a:pPr>
            <a:r>
              <a:t>The Solution &amp; Need to be Solved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Graph-Theoretic Software Modeling: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Models digital circuits strictly as Directed Acyclic Graphs (DAGs) with mathematical evaluation guarantees.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Algorithmic Pre-Validation: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Runs Tarjan's 3-colour DFS to detect circular feedback loops BEFORE simulation, preventing infinite execution loops.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Topological Gate Scheduling: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Applies Kahn's BFS algorithm to determine the exact computation order so gate inputs are always ready before evaluation.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Dual Architecture: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Features a zero-dependency high-speed C++17 core engine paired with a modern drag-and-drop web EDA canvas.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4560"/>
                </a:solidFill>
              </a:defRPr>
            </a:pPr>
            <a:r>
              <a:t>FIRST REVIEW — OCTOBER 12, 2026 | SLIDE 3 OF 9</a:t>
            </a:r>
          </a:p>
          <a:p>
            <a:pPr>
              <a:defRPr sz="2200" b="1">
                <a:solidFill>
                  <a:srgbClr val="0F3460"/>
                </a:solidFill>
              </a:defRPr>
            </a:pPr>
            <a:r>
              <a:t>2. Literature Survey — Analysis of 3 Papers &amp; Drawbacks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6E7D"/>
                </a:solidFill>
              </a:defRPr>
            </a:pPr>
            <a:r>
              <a:t>Digital Logic Circuit Simulator | Team: Markanda Meher (206126020) &amp; Nikhil (206126021) | Dept. of CSE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463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Paper 1: Kahn's Topological Sort (1962)</a:t>
            </a:r>
          </a:p>
          <a:p>
            <a:pPr>
              <a:spcAft>
                <a:spcPts val="400"/>
              </a:spcAft>
              <a:defRPr sz="1000">
                <a:solidFill>
                  <a:srgbClr val="533483"/>
                </a:solidFill>
              </a:defRPr>
            </a:pPr>
            <a:r>
              <a:t>A. B. Kahn — Communications of the ACM, Vol. 5, No. 11, pp. 558–562</a:t>
            </a:r>
          </a:p>
          <a:p>
            <a:pPr>
              <a:defRPr sz="1050">
                <a:solidFill>
                  <a:srgbClr val="1A1A2E"/>
                </a:solidFill>
              </a:defRPr>
            </a:pPr>
            <a:r>
              <a:t>Contribution: Introduced in-degree BFS queue algorithm for ordering DAGs in O(V + E) time. Used in our simulator for dependency-ordered gate calculation.</a:t>
            </a:r>
          </a:p>
          <a:p>
            <a:pPr>
              <a:defRPr sz="1000" b="1">
                <a:solidFill>
                  <a:srgbClr val="E94560"/>
                </a:solidFill>
              </a:defRPr>
            </a:pPr>
            <a:r>
              <a:t>⚠️ Drawbacks: (1) Silent failure on cycles (stops when queue empties without identifying offending nodes); (2) Arbitrary tie-breaking ignoring critical paths; (3) Static only (must re-sort entire graph on wire changes).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35808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Paper 2: Tarjan's DFS Framework (1972)</a:t>
            </a:r>
          </a:p>
          <a:p>
            <a:pPr>
              <a:spcAft>
                <a:spcPts val="400"/>
              </a:spcAft>
              <a:defRPr sz="1000">
                <a:solidFill>
                  <a:srgbClr val="533483"/>
                </a:solidFill>
              </a:defRPr>
            </a:pPr>
            <a:r>
              <a:t>Robert E. Tarjan — SIAM Journal on Computing, Vol. 1, No. 2, pp. 146–160</a:t>
            </a:r>
          </a:p>
          <a:p>
            <a:pPr>
              <a:defRPr sz="1050">
                <a:solidFill>
                  <a:srgbClr val="1A1A2E"/>
                </a:solidFill>
              </a:defRPr>
            </a:pPr>
            <a:r>
              <a:t>Contribution: Established linear-time O(V + E) DFS graph traversal with back-edge classification. Used in our simulator for 3-colour cycle pre-validation.</a:t>
            </a:r>
          </a:p>
          <a:p>
            <a:pPr>
              <a:defRPr sz="1000" b="1">
                <a:solidFill>
                  <a:srgbClr val="E94560"/>
                </a:solidFill>
              </a:defRPr>
            </a:pPr>
            <a:r>
              <a:t>⚠️ Drawbacks: (1) Recursive stack overflow on deeply cascaded circuits; (2) Rejects all feedback, prohibiting valid sequential logic (latches); (3) Does not yield topological evaluation levels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463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81728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460"/>
                </a:solidFill>
              </a:defRPr>
            </a:pPr>
            <a:r>
              <a:t>Paper 3: Tarjan's Union-Find (1975)</a:t>
            </a:r>
          </a:p>
          <a:p>
            <a:pPr>
              <a:spcAft>
                <a:spcPts val="400"/>
              </a:spcAft>
              <a:defRPr sz="1000">
                <a:solidFill>
                  <a:srgbClr val="533483"/>
                </a:solidFill>
              </a:defRPr>
            </a:pPr>
            <a:r>
              <a:t>Robert E. Tarjan — Journal of the ACM (JACM), Vol. 22, No. 2, pp. 215–225</a:t>
            </a:r>
          </a:p>
          <a:p>
            <a:pPr>
              <a:defRPr sz="1050">
                <a:solidFill>
                  <a:srgbClr val="1A1A2E"/>
                </a:solidFill>
              </a:defRPr>
            </a:pPr>
            <a:r>
              <a:t>Contribution: Proved O(m * alpha(n)) amortized bound for Disjoint Sets using path compression and union by rank. Used for wire-net equivalence.</a:t>
            </a:r>
          </a:p>
          <a:p>
            <a:pPr>
              <a:defRPr sz="1000" b="1">
                <a:solidFill>
                  <a:srgbClr val="E94560"/>
                </a:solidFill>
              </a:defRPr>
            </a:pPr>
            <a:r>
              <a:t>⚠️ Drawbacks: (1) Irreversible merges (supports union, but cannot split/disconnect wires); (2) Lacks signal directionality (cannot distinguish drivers from sinks); (3) Indirection overhead for small circuits.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4560"/>
                </a:solidFill>
              </a:defRPr>
            </a:pPr>
            <a:r>
              <a:t>FIRST REVIEW — OCTOBER 12, 2026 | SLIDE 4 OF 9</a:t>
            </a:r>
          </a:p>
          <a:p>
            <a:pPr>
              <a:defRPr sz="2200" b="1">
                <a:solidFill>
                  <a:srgbClr val="0F3460"/>
                </a:solidFill>
              </a:defRPr>
            </a:pPr>
            <a:r>
              <a:t>3. Block Diagram &amp; Algorithmic Novelty /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6E7D"/>
                </a:solidFill>
              </a:defRPr>
            </a:pPr>
            <a:r>
              <a:t>Digital Logic Circuit Simulator | Team: Markanda Meher (206126020) &amp; Nikhil (206126021) | Dept. of CSE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32918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502920"/>
          </a:xfrm>
          <a:prstGeom prst="round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35024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MODULE 1: GRAPH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74520"/>
            <a:ext cx="23408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F3460"/>
                </a:solidFill>
              </a:defRPr>
            </a:pPr>
            <a:r>
              <a:t>Adjacency List + Netlist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Dual-direction storage: forward edges (adjList) + reverse edges (inputs)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O(1) amortized insertion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Union-Find wire net clustering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280160"/>
            <a:ext cx="2560320" cy="32918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560320" cy="502920"/>
          </a:xfrm>
          <a:prstGeom prst="round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335024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MODULE 2: PRE-VALIDATION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23408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E94560"/>
                </a:solidFill>
              </a:defRPr>
            </a:pPr>
            <a:r>
              <a:t>Tarjan's 3-Colour DFS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Node states: WHITE, GRAY, BLACK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Back-edge caught on GRAY visit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Halts simulation and pinpoints offending gate IDs safely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280160"/>
            <a:ext cx="2560320" cy="32918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1280160"/>
            <a:ext cx="2560320" cy="502920"/>
          </a:xfrm>
          <a:prstGeom prst="roundRect">
            <a:avLst/>
          </a:prstGeom>
          <a:solidFill>
            <a:srgbClr val="533483"/>
          </a:solidFill>
          <a:ln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335024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MODULE 3: 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874520"/>
            <a:ext cx="23408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533483"/>
                </a:solidFill>
              </a:defRPr>
            </a:pPr>
            <a:r>
              <a:t>Kahn's BFS Topo-Sort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In-degree tracking array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Zero in-degree queue seeds inputs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Guarantees data readiness at every gate before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280160"/>
            <a:ext cx="2560320" cy="32918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06256" y="1280160"/>
            <a:ext cx="256032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335024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MODULE 4: EXECUTION &amp;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1874520"/>
            <a:ext cx="23408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7AE60"/>
                </a:solidFill>
              </a:defRPr>
            </a:pPr>
            <a:r>
              <a:t>Logic Engine + Web EDA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9 gate types boolean evaluation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Bitwise truth table generator (2^N)</a:t>
            </a:r>
          </a:p>
          <a:p>
            <a:pPr>
              <a:spcAft>
                <a:spcPts val="500"/>
              </a:spcAft>
              <a:defRPr sz="950">
                <a:solidFill>
                  <a:srgbClr val="1A1A2E"/>
                </a:solidFill>
              </a:defRPr>
            </a:pPr>
            <a:r>
              <a:t>• Interactive web drag-and-drop UI with live glowing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10728655" cy="14173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9204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3460"/>
                </a:solidFill>
              </a:defRPr>
            </a:pPr>
            <a:r>
              <a:t>⭐ Our Algorithmic Novelty &amp; Technical Contribution:</a:t>
            </a:r>
          </a:p>
          <a:p>
            <a:pPr>
              <a:defRPr sz="1000">
                <a:solidFill>
                  <a:srgbClr val="1A1A2E"/>
                </a:solidFill>
              </a:defRPr>
            </a:pPr>
            <a:r>
              <a:t>1. Decoupled Pre-Validation Pipeline: Isolates cycle detection (DFS) from topological scheduling (Kahn's), preventing infinite execution loops common in basic simulators.</a:t>
            </a:r>
            <a:br/>
            <a:r>
              <a:t>2. Dual-Direction Graph Storage: Simultaneously preserves forward adjacency lists and reverse dependency vectors, allowing O(1) fan-in retrieval without matrix overhead.</a:t>
            </a:r>
            <a:br/>
            <a:r>
              <a:t>3. Combinatorial Bitwise Exhaustion: Uses direct bit shifts ((combo &gt;&gt; bit) &amp; 1) to test all 2^N combinations in &lt;1 ms, paired with 1:1 C++ and Web algorithm parity.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4560"/>
                </a:solidFill>
              </a:defRPr>
            </a:pPr>
            <a:r>
              <a:t>FIRST REVIEW — OCTOBER 12, 2026 | SLIDE 5 OF 9</a:t>
            </a:r>
          </a:p>
          <a:p>
            <a:pPr>
              <a:defRPr sz="2200" b="1">
                <a:solidFill>
                  <a:srgbClr val="0F3460"/>
                </a:solidFill>
              </a:defRPr>
            </a:pPr>
            <a:r>
              <a:t>4. Algorithms — DFS Cycle Detection &amp; Kahn's Topo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6E7D"/>
                </a:solidFill>
              </a:defRPr>
            </a:pPr>
            <a:r>
              <a:t>Digital Logic Circuit Simulator | Team: Markanda Meher (206126020) &amp; Nikhil (206126021) | Dept. of CSE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94560"/>
                </a:solidFill>
              </a:defRPr>
            </a:pPr>
            <a:r>
              <a:t>Algorithm 1: Tarjan's 3-Colour DFS (O(V+E))</a:t>
            </a:r>
          </a:p>
          <a:p>
            <a:pPr>
              <a:defRPr sz="950">
                <a:solidFill>
                  <a:srgbClr val="1E2837"/>
                </a:solidFill>
                <a:latin typeface="Consolas"/>
              </a:defRPr>
            </a:pPr>
            <a:r>
              <a:t>procedure HAS_CYCLE_DFS(u, color[], graph):</a:t>
            </a:r>
            <a:br/>
            <a:r>
              <a:t>    color[u] ← GRAY // Active on recursion call stack</a:t>
            </a:r>
            <a:br/>
            <a:r>
              <a:t>    for each v in graph.adjList[u] do:</a:t>
            </a:r>
            <a:br/>
            <a:r>
              <a:t>        if color[v] == GRAY then</a:t>
            </a:r>
            <a:br/>
            <a:r>
              <a:t>            return TRUE // Back-edge detected!</a:t>
            </a:r>
            <a:br/>
            <a:r>
              <a:t>        if color[v] == WHITE then</a:t>
            </a:r>
            <a:br/>
            <a:r>
              <a:t>            if HAS_CYCLE_DFS(v, color, graph) then</a:t>
            </a:r>
            <a:br/>
            <a:r>
              <a:t>                return TRUE</a:t>
            </a:r>
            <a:br/>
            <a:r>
              <a:t>    color[u] ← BLACK // Exploration complete</a:t>
            </a:r>
            <a:br/>
            <a:r>
              <a:t>    return FALSE</a:t>
            </a:r>
            <a:br/>
            <a:br/>
            <a:r>
              <a:t>procedure HAS_CYCLE(graph):</a:t>
            </a:r>
            <a:br/>
            <a:r>
              <a:t>    color ← array of size V initialized to WHITE</a:t>
            </a:r>
            <a:br/>
            <a:r>
              <a:t>    for i ← 0 to V - 1 do:</a:t>
            </a:r>
            <a:br/>
            <a:r>
              <a:t>        if color[i] == WHITE then</a:t>
            </a:r>
            <a:br/>
            <a:r>
              <a:t>            if HAS_CYCLE_DFS(i, color, graph) then</a:t>
            </a:r>
            <a:br/>
            <a:r>
              <a:t>                return TRUE</a:t>
            </a:r>
            <a:br/>
            <a:r>
              <a:t>    return FALSE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3460"/>
                </a:solidFill>
              </a:defRPr>
            </a:pPr>
            <a:r>
              <a:t>Algorithm 2: Kahn's BFS Topological Sort (O(V+E))</a:t>
            </a:r>
          </a:p>
          <a:p>
            <a:pPr>
              <a:defRPr sz="950">
                <a:solidFill>
                  <a:srgbClr val="1E2837"/>
                </a:solidFill>
                <a:latin typeface="Consolas"/>
              </a:defRPr>
            </a:pPr>
            <a:r>
              <a:t>procedure TOPOLOGICAL_SORT(graph):</a:t>
            </a:r>
            <a:br/>
            <a:r>
              <a:t>    inDegree ← array of size V initialized to 0</a:t>
            </a:r>
            <a:br/>
            <a:r>
              <a:t>    for u ← 0 to V - 1 do:</a:t>
            </a:r>
            <a:br/>
            <a:r>
              <a:t>        for each v in graph.adjList[u] do:</a:t>
            </a:r>
            <a:br/>
            <a:r>
              <a:t>            inDegree[v] ← inDegree[v] + 1</a:t>
            </a:r>
            <a:br/>
            <a:br/>
            <a:r>
              <a:t>    queue Q ← empty FIFO queue</a:t>
            </a:r>
            <a:br/>
            <a:r>
              <a:t>    for i ← 0 to V - 1 do:</a:t>
            </a:r>
            <a:br/>
            <a:r>
              <a:t>        if inDegree[i] == 0 then</a:t>
            </a:r>
            <a:br/>
            <a:r>
              <a:t>            Q.push(i) // Seed with Primary Inputs</a:t>
            </a:r>
            <a:br/>
            <a:br/>
            <a:r>
              <a:t>    order ← empty list</a:t>
            </a:r>
            <a:br/>
            <a:r>
              <a:t>    while Q is not empty do:</a:t>
            </a:r>
            <a:br/>
            <a:r>
              <a:t>        curr ← Q.pop()</a:t>
            </a:r>
            <a:br/>
            <a:r>
              <a:t>        order.append(curr)</a:t>
            </a:r>
            <a:br/>
            <a:r>
              <a:t>        for each v in graph.adjList[curr] do:</a:t>
            </a:r>
            <a:br/>
            <a:r>
              <a:t>            inDegree[v] ← inDegree[v] - 1</a:t>
            </a:r>
            <a:br/>
            <a:r>
              <a:t>            if inDegree[v] == 0 then</a:t>
            </a:r>
            <a:br/>
            <a:r>
              <a:t>                Q.push(v)</a:t>
            </a:r>
            <a:br/>
            <a:r>
              <a:t>    return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4560"/>
                </a:solidFill>
              </a:defRPr>
            </a:pPr>
            <a:r>
              <a:t>FIRST REVIEW — OCTOBER 12, 2026 | SLIDE 6 OF 9</a:t>
            </a:r>
          </a:p>
          <a:p>
            <a:pPr>
              <a:defRPr sz="2200" b="1">
                <a:solidFill>
                  <a:srgbClr val="0F3460"/>
                </a:solidFill>
              </a:defRPr>
            </a:pPr>
            <a:r>
              <a:t>4. Algorithms — Logic Evaluation &amp; Truth Table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6E7D"/>
                </a:solidFill>
              </a:defRPr>
            </a:pPr>
            <a:r>
              <a:t>Digital Logic Circuit Simulator | Team: Markanda Meher (206126020) &amp; Nikhil (206126021) | Dept. of CSE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3460"/>
                </a:solidFill>
              </a:defRPr>
            </a:pPr>
            <a:r>
              <a:t>Algorithm 3: Gate Evaluation (O(fan-in))</a:t>
            </a:r>
          </a:p>
          <a:p>
            <a:pPr>
              <a:defRPr sz="850">
                <a:solidFill>
                  <a:srgbClr val="1E2837"/>
                </a:solidFill>
                <a:latin typeface="Consolas"/>
              </a:defRPr>
            </a:pPr>
            <a:r>
              <a:t>procedure EVALUATE_GATE(gate, allGates):</a:t>
            </a:r>
            <a:br/>
            <a:r>
              <a:t>    switch gate.type:</a:t>
            </a:r>
            <a:br/>
            <a:r>
              <a:t>        case AND:</a:t>
            </a:r>
            <a:br/>
            <a:r>
              <a:t>            res ← 1</a:t>
            </a:r>
            <a:br/>
            <a:r>
              <a:t>            for inId in gate.inputGateIds do:</a:t>
            </a:r>
            <a:br/>
            <a:r>
              <a:t>                res ← res &amp; allGates[inId].val</a:t>
            </a:r>
            <a:br/>
            <a:r>
              <a:t>            gate.outputValue ← res</a:t>
            </a:r>
            <a:br/>
            <a:r>
              <a:t>        case OR:</a:t>
            </a:r>
            <a:br/>
            <a:r>
              <a:t>            res ← 0</a:t>
            </a:r>
            <a:br/>
            <a:r>
              <a:t>            for inId in gate.inputGateIds do:</a:t>
            </a:r>
            <a:br/>
            <a:r>
              <a:t>                res ← res | allGates[inId].val</a:t>
            </a:r>
            <a:br/>
            <a:r>
              <a:t>            gate.outputValue ← res</a:t>
            </a:r>
            <a:br/>
            <a:r>
              <a:t>        case NOT:</a:t>
            </a:r>
            <a:br/>
            <a:r>
              <a:t>            gate.outputValue ← !allGates[gate.inputGateIds[0]].val</a:t>
            </a:r>
            <a:br/>
            <a:r>
              <a:t>        case XOR:</a:t>
            </a:r>
            <a:br/>
            <a:r>
              <a:t>            res ← 0</a:t>
            </a:r>
            <a:br/>
            <a:r>
              <a:t>            for inId in gate.inputGateIds do:</a:t>
            </a:r>
            <a:br/>
            <a:r>
              <a:t>                res ← res ^ allGates[inId].val</a:t>
            </a:r>
            <a:br/>
            <a:r>
              <a:t>            gate.outputValue ← res</a:t>
            </a:r>
            <a:br/>
            <a:r>
              <a:t>        case NAND, NOR, XNOR:</a:t>
            </a:r>
            <a:br/>
            <a:r>
              <a:t>            gate.outputValue ← !(AND / OR / XOR logic)</a:t>
            </a:r>
            <a:br/>
            <a:r>
              <a:t>        case OUTPUT:</a:t>
            </a:r>
            <a:br/>
            <a:r>
              <a:t>            gate.outputValue ← allGates[gate.inputGateIds[0]].val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94560"/>
                </a:solidFill>
              </a:defRPr>
            </a:pPr>
            <a:r>
              <a:t>Algorithm 4: Truth Table Generator (O(2^N * (V+E)))</a:t>
            </a:r>
          </a:p>
          <a:p>
            <a:pPr>
              <a:defRPr sz="900">
                <a:solidFill>
                  <a:srgbClr val="1E2837"/>
                </a:solidFill>
                <a:latin typeface="Consolas"/>
              </a:defRPr>
            </a:pPr>
            <a:r>
              <a:t>procedure GENERATE_TRUTH_TABLE(circuit):</a:t>
            </a:r>
            <a:br/>
            <a:r>
              <a:t>    inputs  ← all gates where type == INPUT</a:t>
            </a:r>
            <a:br/>
            <a:r>
              <a:t>    outputs ← all gates where type == OUTPUT</a:t>
            </a:r>
            <a:br/>
            <a:r>
              <a:t>    N ← inputs.size()</a:t>
            </a:r>
            <a:br/>
            <a:r>
              <a:t>    totalRows ← 2^N</a:t>
            </a:r>
            <a:br/>
            <a:br/>
            <a:r>
              <a:t>    for combo ← 0 to totalRows - 1 do:</a:t>
            </a:r>
            <a:br/>
            <a:r>
              <a:t>        // 1. Bitwise extraction for Primary Inputs</a:t>
            </a:r>
            <a:br/>
            <a:r>
              <a:t>        for i ← 0 to N - 1 do:</a:t>
            </a:r>
            <a:br/>
            <a:r>
              <a:t>            bitPos ← N - 1 - i</a:t>
            </a:r>
            <a:br/>
            <a:r>
              <a:t>            inputs[i].val ← (combo &gt;&gt; bitPos) &amp; 1</a:t>
            </a:r>
            <a:br/>
            <a:br/>
            <a:r>
              <a:t>        // 2. Full simulation in Topological Order</a:t>
            </a:r>
            <a:br/>
            <a:r>
              <a:t>        SIMULATE(circuit, verbose = false)</a:t>
            </a:r>
            <a:br/>
            <a:br/>
            <a:r>
              <a:t>        // 3. Record truth row</a:t>
            </a:r>
            <a:br/>
            <a:r>
              <a:t>        printRow(inputs.values, outputs.values)</a:t>
            </a:r>
            <a:br/>
            <a:br/>
            <a:r>
              <a:t>    // Guaranteed exhaustive functional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4560"/>
                </a:solidFill>
              </a:defRPr>
            </a:pPr>
            <a:r>
              <a:t>FIRST REVIEW — OCTOBER 12, 2026 | SLIDE 7 OF 9</a:t>
            </a:r>
          </a:p>
          <a:p>
            <a:pPr>
              <a:defRPr sz="2200" b="1">
                <a:solidFill>
                  <a:srgbClr val="0F3460"/>
                </a:solidFill>
              </a:defRPr>
            </a:pPr>
            <a:r>
              <a:t>5. Dataset — IEEE ISCAS '85 Benchmark Suite (.bench)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6E7D"/>
                </a:solidFill>
              </a:defRPr>
            </a:pPr>
            <a:r>
              <a:t>Digital Logic Circuit Simulator | Team: Markanda Meher (206126020) &amp; Nikhil (206126021) | Dept. of CSE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754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3460"/>
                </a:solidFill>
              </a:defRPr>
            </a:pPr>
            <a:r>
              <a:t>Dataset Specification &amp; Download Links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Industry Standard: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Published by IEEE International Symposium on Circuits and Systems (ISCAS); the worldwide benchmark for logic simulators and DAG algorithms.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Format (.bench):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Topological netlist specifying INPUT(...), OUTPUT(...), and gate assignments with explicit fan-ins.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Official Repositories: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• Univ. of Tennessee BVLS: https://pld.cs.utk.edu/bvls/iscas85/</a:t>
            </a:r>
            <a:br/>
            <a:r>
              <a:t>• Czech Technical Univ: https://ddd.fit.cvut.cz/prj/Benchmarks/</a:t>
            </a:r>
            <a:br/>
            <a:r>
              <a:t>• Trust-Hub Benchmark Suite: https://trust-hub.org/benchmarks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Validation Method: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Evaluated simulator output against official published IEEE truth tables for accuracy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754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94560"/>
                </a:solidFill>
              </a:defRPr>
            </a:pPr>
            <a:r>
              <a:t>Benchmark Suite Circuits &amp; Our c17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011680"/>
          <a:ext cx="48463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Circuit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Inputs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Outputs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Gates &amp; Function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</a:defRPr>
                      </a:pPr>
                      <a:r>
                        <a:t>c17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</a:defRPr>
                      </a:pPr>
                      <a:r>
                        <a:t>6 NAND gates (Included in Demo!)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c432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160 gates (Interrupt Controller)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c499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202 gates (32-bit Error Correction)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c880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383 gates (8-bit ALU)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c1355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546 gates (32-bit SEC Circuit)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7091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AE60"/>
                </a:solidFill>
              </a:defRPr>
            </a:pPr>
            <a:r>
              <a:t>✓ c17 Live Benchmark Validation: Both our C++ executable (Option 14) and Web UI evaluate all 32/32 truth table rows in &lt;1 ms, achieving 100% mathematical match with IEEE reference standards.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4560"/>
                </a:solidFill>
              </a:defRPr>
            </a:pPr>
            <a:r>
              <a:t>FIRST REVIEW — OCTOBER 12, 2026 | SLIDE 8 OF 9</a:t>
            </a:r>
          </a:p>
          <a:p>
            <a:pPr>
              <a:defRPr sz="2200" b="1">
                <a:solidFill>
                  <a:srgbClr val="0F3460"/>
                </a:solidFill>
              </a:defRPr>
            </a:pPr>
            <a:r>
              <a:t>System Implementation — C++ Engine &amp; Web EDA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6E7D"/>
                </a:solidFill>
              </a:defRPr>
            </a:pPr>
            <a:r>
              <a:t>Digital Logic Circuit Simulator | Team: Markanda Meher (206126020) &amp; Nikhil (206126021) | Dept. of CSE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754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3460"/>
                </a:solidFill>
              </a:defRPr>
            </a:pPr>
            <a:r>
              <a:t>🖥️ High-Performance C++ Core Engine</a:t>
            </a:r>
          </a:p>
          <a:p>
            <a:pPr>
              <a:spcAft>
                <a:spcPts val="200"/>
              </a:spcAft>
              <a:defRPr b="1" sz="1100">
                <a:solidFill>
                  <a:srgbClr val="0F3460"/>
                </a:solidFill>
              </a:defRPr>
            </a:pPr>
            <a:r>
              <a:t>• Static Zero-Dependency Binary: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simulator.exe (3.0 MB) compiled with -static; runs standalone on any Windows OS without missing DLLs.</a:t>
            </a:r>
          </a:p>
          <a:p>
            <a:pPr>
              <a:spcAft>
                <a:spcPts val="200"/>
              </a:spcAft>
              <a:defRPr b="1" sz="1100">
                <a:solidFill>
                  <a:srgbClr val="0F3460"/>
                </a:solidFill>
              </a:defRPr>
            </a:pPr>
            <a:r>
              <a:t>• Categorized CLI Menu: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Organized into Construction, Visualization, Analysis, and 4 Preset Demos.</a:t>
            </a:r>
          </a:p>
          <a:p>
            <a:pPr>
              <a:spcAft>
                <a:spcPts val="200"/>
              </a:spcAft>
              <a:defRPr b="1" sz="1100">
                <a:solidFill>
                  <a:srgbClr val="0F3460"/>
                </a:solidFill>
              </a:defRPr>
            </a:pPr>
            <a:r>
              <a:t>• Terminal ASCII Schematics: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Renders clear circuit schematics, pin maps, and wire paths directly in terminal text.</a:t>
            </a:r>
          </a:p>
          <a:p>
            <a:pPr>
              <a:spcAft>
                <a:spcPts val="200"/>
              </a:spcAft>
              <a:defRPr b="1" sz="1100">
                <a:solidFill>
                  <a:srgbClr val="0F3460"/>
                </a:solidFill>
              </a:defRPr>
            </a:pPr>
            <a:r>
              <a:t>• Diagnostic Gate Inspector: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Allows O(1) probing of any gate ID to inspect live signals, fan-in sources, and fan-out targets.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754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94560"/>
                </a:solidFill>
              </a:defRPr>
            </a:pPr>
            <a:r>
              <a:t>🌐 Interactive Drag-and-Drop Web Module (web/)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HTML5 Canvas EDA Environment: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Drag gates from left palette, connect cubic Bezier wires from output pins to input pins seamlessly.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Live Signal Flow &amp; Glowing Wires: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Wires glow green when HIGH (1) and gray when LOW (0); output bulbs illuminate dynamically.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Interactive Input Switches: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Click any input switch on canvas to toggle 0/1 in real-time with instant signal propagation.</a:t>
            </a:r>
          </a:p>
          <a:p>
            <a:pPr>
              <a:spcAft>
                <a:spcPts val="200"/>
              </a:spcAft>
              <a:defRPr b="1" sz="1100">
                <a:solidFill>
                  <a:srgbClr val="E94560"/>
                </a:solidFill>
              </a:defRPr>
            </a:pPr>
            <a:r>
              <a:t>• 1:1 C++ Synchronization: 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</a:defRPr>
            </a:pPr>
            <a:r>
              <a:t>  Click 'Export C++ Code' to generate exact Circuit.h code, or run python server.py for backend bridge.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4560"/>
                </a:solidFill>
              </a:defRPr>
            </a:pPr>
            <a:r>
              <a:t>FIRST REVIEW — OCTOBER 12, 2026 | SLIDE 9 OF 9</a:t>
            </a:r>
          </a:p>
          <a:p>
            <a:pPr>
              <a:defRPr sz="2200" b="1">
                <a:solidFill>
                  <a:srgbClr val="0F3460"/>
                </a:solidFill>
              </a:defRPr>
            </a:pPr>
            <a:r>
              <a:t>Complexity Analysis, References &amp; Review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6E7D"/>
                </a:solidFill>
              </a:defRPr>
            </a:pPr>
            <a:r>
              <a:t>Digital Logic Circuit Simulator | Team: Markanda Meher (206126020) &amp; Nikhil (206126021) | Dept. of CSE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Simulator Module / Operation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Gate Insertion &amp; Wire Routing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Vector &amp; Adjacency List Push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  <a:latin typeface="Consolas"/>
                        </a:defRPr>
                      </a:pPr>
                      <a:r>
                        <a:t>O(1) amortized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460"/>
                          </a:solidFill>
                          <a:latin typeface="Consolas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Cycle Pre-Validation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Tarjan's 3-Colour DFS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  <a:latin typeface="Consolas"/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460"/>
                          </a:solidFill>
                          <a:latin typeface="Consolas"/>
                        </a:defRPr>
                      </a:pPr>
                      <a:r>
                        <a:t>O(V) color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Evaluation Scheduling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Kahn's BFS Topological Sort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  <a:latin typeface="Consolas"/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460"/>
                          </a:solidFill>
                          <a:latin typeface="Consolas"/>
                        </a:defRPr>
                      </a:pPr>
                      <a:r>
                        <a:t>O(V + E) in-degrees &amp; queue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Single Simulation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Topo Sort + Gate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  <a:latin typeface="Consolas"/>
                        </a:defRPr>
                      </a:pPr>
                      <a:r>
                        <a:t>O(V + 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460"/>
                          </a:solidFill>
                          <a:latin typeface="Consolas"/>
                        </a:defRPr>
                      </a:pPr>
                      <a:r>
                        <a:t>O(V)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Exhaustive Truth Table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1A2E"/>
                          </a:solidFill>
                        </a:defRPr>
                      </a:pPr>
                      <a:r>
                        <a:t>Bitwise Shifting (All 2^N Vectors)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94560"/>
                          </a:solidFill>
                          <a:latin typeface="Consolas"/>
                        </a:defRPr>
                      </a:pPr>
                      <a:r>
                        <a:t>O(2^N * (V + E))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3460"/>
                          </a:solidFill>
                          <a:latin typeface="Consolas"/>
                        </a:defRPr>
                      </a:pPr>
                      <a:r>
                        <a:t>O(V)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0F3F6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F3460"/>
                </a:solidFill>
              </a:defRPr>
            </a:pPr>
            <a:r>
              <a:t>📚 Formal Academic References &amp; Review 1 Status:</a:t>
            </a:r>
          </a:p>
          <a:p>
            <a:pPr>
              <a:spcAft>
                <a:spcPts val="300"/>
              </a:spcAft>
              <a:defRPr sz="950">
                <a:solidFill>
                  <a:srgbClr val="1A1A2E"/>
                </a:solidFill>
              </a:defRPr>
            </a:pPr>
            <a:r>
              <a:t>1. Kahn, A. B. (1962). 'Topological sorting of large networks.' Communications of the ACM, 5(11), 558–562.</a:t>
            </a:r>
          </a:p>
          <a:p>
            <a:pPr>
              <a:spcAft>
                <a:spcPts val="300"/>
              </a:spcAft>
              <a:defRPr sz="950">
                <a:solidFill>
                  <a:srgbClr val="1A1A2E"/>
                </a:solidFill>
              </a:defRPr>
            </a:pPr>
            <a:r>
              <a:t>2. Tarjan, R. E. (1972). 'Depth-First Search and Linear Graph Algorithms.' SIAM Journal on Computing, 1(2), 146–160.</a:t>
            </a:r>
          </a:p>
          <a:p>
            <a:pPr>
              <a:spcAft>
                <a:spcPts val="300"/>
              </a:spcAft>
              <a:defRPr sz="950">
                <a:solidFill>
                  <a:srgbClr val="1A1A2E"/>
                </a:solidFill>
              </a:defRPr>
            </a:pPr>
            <a:r>
              <a:t>3. Tarjan, R. E. (1975). 'Efficiency of a Good but Not Linear Set Union Algorithm.' Journal of the ACM (JACM), 22(2), 215–225.</a:t>
            </a:r>
          </a:p>
          <a:p>
            <a:pPr>
              <a:spcAft>
                <a:spcPts val="300"/>
              </a:spcAft>
              <a:defRPr sz="950">
                <a:solidFill>
                  <a:srgbClr val="1A1A2E"/>
                </a:solidFill>
              </a:defRPr>
            </a:pPr>
            <a:r>
              <a:t>4. Brglez, F., &amp; Fujiwara, H. (1985). 'A neutral netlist of 10 combinational benchmark circuits.' IEEE ISCAS'85 Special Session.</a:t>
            </a:r>
          </a:p>
          <a:p>
            <a:pPr>
              <a:spcAft>
                <a:spcPts val="300"/>
              </a:spcAft>
              <a:defRPr sz="950">
                <a:solidFill>
                  <a:srgbClr val="1A1A2E"/>
                </a:solidFill>
              </a:defRPr>
            </a:pPr>
            <a:r>
              <a:t>Status: First Review deliverables completed — working C++ CLI, interactive web GUI, ISCAS c17 benchmark, and slide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