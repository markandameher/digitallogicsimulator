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COURSE PROJECT — FIRST REVIEW (OCTOBER 12, 2026)</a:t>
            </a:r>
          </a:p>
          <a:p>
            <a:pPr>
              <a:spcAft>
                <a:spcPts val="10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Digital Logic Circuit Simulator</a:t>
            </a:r>
          </a:p>
          <a:p>
            <a:pPr>
              <a:spcAft>
                <a:spcPts val="2800"/>
              </a:spcAft>
              <a:defRPr sz="1700">
                <a:solidFill>
                  <a:srgbClr val="334155"/>
                </a:solidFill>
                <a:latin typeface="Arial"/>
              </a:defRPr>
            </a:pPr>
            <a:r>
              <a:t>A Graph-Theoretic Framework for Combinational Logic Validation &amp; Simulation</a:t>
            </a:r>
          </a:p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Presented by:</a:t>
            </a:r>
          </a:p>
          <a:p>
            <a:pPr>
              <a:spcAft>
                <a:spcPts val="20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• Markanda Meher  (Roll No. 206126020)</a:t>
            </a:r>
            <a:br/>
            <a:r>
              <a:t>• Nikhil  (Roll No. 206126021)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Department of Computer Science &amp; Engineering | Advanced Data Structures &amp;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REVIEW POINT 1</a:t>
            </a:r>
          </a:p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1. Introduction — Problem Statement &amp; Need for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First Review (Oct 12, 2026) | Digital Logic Circuit Simulator | Markanda Meher &amp; Nikhil | Slide 2 of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The Problem: Physical Hardware Constraints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Breadboard Clutter &amp; Tangled Wires: </a:t>
            </a:r>
            <a:r>
              <a:rPr b="0">
                <a:solidFill>
                  <a:srgbClr val="334155"/>
                </a:solidFill>
              </a:rPr>
              <a:t>Building multi-gate circuits physically requires manual jumper wires, prone to loose pins and high wiring clutter.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Tedious Fault Localization: </a:t>
            </a:r>
            <a:r>
              <a:rPr b="0">
                <a:solidFill>
                  <a:srgbClr val="334155"/>
                </a:solidFill>
              </a:rPr>
              <a:t>Isolating a faulty gate or incorrect connection requires manual probing with multimeters or oscilloscopes.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Risk of Hardware Damage: </a:t>
            </a:r>
            <a:r>
              <a:rPr b="0">
                <a:solidFill>
                  <a:srgbClr val="334155"/>
                </a:solidFill>
              </a:rPr>
              <a:t>Accidental short circuits, incorrect VCC/GND wiring, or reverse IC insertion can destroy physical 7400-series TTL chips.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Scalability Bottleneck: </a:t>
            </a:r>
            <a:r>
              <a:rPr b="0">
                <a:solidFill>
                  <a:srgbClr val="334155"/>
                </a:solidFill>
              </a:rPr>
              <a:t>Scaling to 20+ gates on physical breadboards becomes impractical for students and academic laboratories.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No Automated Design Rule Checks: </a:t>
            </a:r>
            <a:r>
              <a:rPr b="0">
                <a:solidFill>
                  <a:srgbClr val="334155"/>
                </a:solidFill>
              </a:rPr>
              <a:t>Physical boards cannot detect illegal feedback loops or race conditions before power is applied.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The Need: Graph-Theoretic Software Simulation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Zero-Cost &amp; Safe Experimentation: </a:t>
            </a:r>
            <a:r>
              <a:rPr b="0">
                <a:solidFill>
                  <a:srgbClr val="334155"/>
                </a:solidFill>
              </a:rPr>
              <a:t>Eliminates physical IC costs and equipment damage while enabling instant circuit restructuring.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Automated Cycle Detection: </a:t>
            </a:r>
            <a:r>
              <a:rPr b="0">
                <a:solidFill>
                  <a:srgbClr val="334155"/>
                </a:solidFill>
              </a:rPr>
              <a:t>Models circuits as directed graphs; executes linear-time cycle detection to catch illegal feedback loops instantly.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Topological Execution Ordering: </a:t>
            </a:r>
            <a:r>
              <a:rPr b="0">
                <a:solidFill>
                  <a:srgbClr val="334155"/>
                </a:solidFill>
              </a:rPr>
              <a:t>Guarantees mathematically that upstream gate signals settle before downstream gates evaluate, avoiding race conditions.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Exhaustive Truth Table Verification: </a:t>
            </a:r>
            <a:r>
              <a:rPr b="0">
                <a:solidFill>
                  <a:srgbClr val="334155"/>
                </a:solidFill>
              </a:rPr>
              <a:t>Automatically simulates all 2^N input combinations, proving circuit equivalence against theoretical Boolean algebra.</a:t>
            </a:r>
          </a:p>
          <a:p>
            <a:pPr>
              <a:spcAft>
                <a:spcPts val="800"/>
              </a:spcAft>
              <a:defRPr sz="1200" b="1">
                <a:solidFill>
                  <a:srgbClr val="334155"/>
                </a:solidFill>
                <a:latin typeface="Arial"/>
              </a:defRPr>
            </a:pPr>
            <a:r>
              <a:t>• Pedagogical Transparency: </a:t>
            </a:r>
            <a:r>
              <a:rPr b="0">
                <a:solidFill>
                  <a:srgbClr val="334155"/>
                </a:solidFill>
              </a:rPr>
              <a:t>Shows the direct application of fundamental graph algorithms (DFS, Kahn's BFS, Disjoint Sets) in computer engineering.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REVIEW POINT 2</a:t>
            </a:r>
          </a:p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2. Literature Survey — Analysis of 3 Papers &amp; Their Drawbacks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First Review (Oct 12, 2026) | Digital Logic Circuit Simulator | Markanda Meher &amp; Nikhil | Slide 3 of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Paper 1: A. B. Kahn (1962): "Topological Sorting of Large Networks" — Communications of the ACM, Vol. 5, No. 11, pp. 558–562</a:t>
            </a:r>
          </a:p>
          <a:p>
            <a:pPr>
              <a:spcAft>
                <a:spcPts val="200"/>
              </a:spcAft>
              <a:defRPr sz="1100" b="1">
                <a:solidFill>
                  <a:srgbClr val="334155"/>
                </a:solidFill>
                <a:latin typeface="Arial"/>
              </a:defRPr>
            </a:pPr>
            <a:r>
              <a:t>• Analysis / Contribution: </a:t>
            </a:r>
            <a:r>
              <a:rPr b="0"/>
              <a:t>Introduced in-degree based queue processing (BFS style) to establish a linear processing sequence in Directed Acyclic Graphs with O(V + E) runtime complexity.</a:t>
            </a:r>
          </a:p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• Specific Drawbacks: </a:t>
            </a:r>
            <a:r>
              <a:rPr b="0">
                <a:solidFill>
                  <a:srgbClr val="334155"/>
                </a:solidFill>
              </a:rPr>
              <a:t>(1) Does not identify exact cycle location: If in-degrees never reach zero, it halts without reporting the offending cycle path or back-edge. (2) Arbitrary tie-breaking: Does not optimize for circuit levelization (parallel gate stages), picking arbitrary zero-indegree nodes.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10728655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Paper 2: R. E. Tarjan (1972): "Depth-First Search and Linear Graph Algorithms" — SIAM Journal on Computing, Vol. 1, No. 2, pp. 146–160</a:t>
            </a:r>
          </a:p>
          <a:p>
            <a:pPr>
              <a:spcAft>
                <a:spcPts val="200"/>
              </a:spcAft>
              <a:defRPr sz="1100" b="1">
                <a:solidFill>
                  <a:srgbClr val="334155"/>
                </a:solidFill>
                <a:latin typeface="Arial"/>
              </a:defRPr>
            </a:pPr>
            <a:r>
              <a:t>• Analysis / Contribution: </a:t>
            </a:r>
            <a:r>
              <a:rPr b="0"/>
              <a:t>Formulated 3-state depth-first search (White/Gray/Black node coloration) and strongly connected components (SCC) running in linear O(V + E) time.</a:t>
            </a:r>
          </a:p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• Specific Drawbacks: </a:t>
            </a:r>
            <a:r>
              <a:rPr b="0">
                <a:solidFill>
                  <a:srgbClr val="334155"/>
                </a:solidFill>
              </a:rPr>
              <a:t>(1) Recursion stack vulnerability: Standard recursive implementations risk call-stack overflow on deep logic paths in large netlists. (2) Lacks evaluation schedule: Identifying SCCs or back-edges proves cycle presence, but does not provide an execution order for logic simulation.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10728655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Paper 3: R. E. Tarjan (1975): "Efficiency of a Good But Not Linear Set Union Algorithm" — Journal of the ACM, Vol. 22, No. 2, pp. 215–225</a:t>
            </a:r>
          </a:p>
          <a:p>
            <a:pPr>
              <a:spcAft>
                <a:spcPts val="200"/>
              </a:spcAft>
              <a:defRPr sz="1100" b="1">
                <a:solidFill>
                  <a:srgbClr val="334155"/>
                </a:solidFill>
                <a:latin typeface="Arial"/>
              </a:defRPr>
            </a:pPr>
            <a:r>
              <a:t>• Analysis / Contribution: </a:t>
            </a:r>
            <a:r>
              <a:rPr b="0"/>
              <a:t>Analyzed Disjoint-Set Union (DSU) with union-by-rank and path compression, proving near-linear O(alpha(N)) amortized operational bounds.</a:t>
            </a:r>
          </a:p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• Specific Drawbacks: </a:t>
            </a:r>
            <a:r>
              <a:rPr b="0">
                <a:solidFill>
                  <a:srgbClr val="334155"/>
                </a:solidFill>
              </a:rPr>
              <a:t>(1) Symmetric / Undirected only: Merges connected components bidirectionally, failing to enforce directed signal propagation (driver-to-load). (2) Irreversible union operations: Standard DSU cannot easily split connected wire nets when a user removes a single wire connection.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REVIEW POINT 3</a:t>
            </a:r>
          </a:p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3. Block Diagram &amp; Algorithmic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First Review (Oct 12, 2026) | Digital Logic Circuit Simulator | Markanda Meher &amp; Nikhil | Slide 4 of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21792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System Block Diagram: 4-Stage Simulation Architecture</a:t>
            </a:r>
          </a:p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▼  Module 1: Circuit Graph Model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Directed Graph G = (V, E) via Adjacency List. Gates = Vertices, Wires = Directed Edges. In-degree and predecessor mapping.</a:t>
            </a:r>
          </a:p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▼  Module 2: Cycle Detection Engine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Tarjan's 3-Color DFS (White/Gray/Black). Re-encountering a Gray node traps illegal back-edges and halts invalid feedback loops.</a:t>
            </a:r>
          </a:p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▼  Module 3: Evaluation Order Scheduler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Kahn's Topological Sort (In-Degree Queue BFS). Produces strict linear execution schedule ensuring upstream dependencies settle first.</a:t>
            </a:r>
          </a:p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▼  Module 4: Logic Execution &amp; Verification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Boolean Gate Switch Engine + Exhaustive 2^N Truth Table Generator. Computes outputs and verifies circuit logic.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463040"/>
            <a:ext cx="432785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3962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Algorithmic Novelty &amp; Contribution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Dual-Phase Graph Validation: </a:t>
            </a:r>
            <a:r>
              <a:rPr b="0">
                <a:solidFill>
                  <a:srgbClr val="334155"/>
                </a:solidFill>
              </a:rPr>
              <a:t>Decouples cycle identification from evaluation scheduling. Uses 3-color DFS specifically to isolate and report offending feedback edges, then uses Kahn's algorithm for deterministic levelized scheduling.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Strict Dependency Invariance: </a:t>
            </a:r>
            <a:r>
              <a:rPr b="0">
                <a:solidFill>
                  <a:srgbClr val="334155"/>
                </a:solidFill>
              </a:rPr>
              <a:t>Guarantees zero race conditions. In combinational circuits, every gate evaluates strictly after all its upstream driver inputs are stabilized in O(V + E) time.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Fast O(1) Hash Map Gate Indexing: </a:t>
            </a:r>
            <a:r>
              <a:rPr b="0">
                <a:solidFill>
                  <a:srgbClr val="334155"/>
                </a:solidFill>
              </a:rPr>
              <a:t>Provides instantaneous retrieval of gates, netlists, and pin states by name, eliminating O(V) scan overheads during multi-gate propagation.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Automated Exhaustive Verification: </a:t>
            </a:r>
            <a:r>
              <a:rPr b="0">
                <a:solidFill>
                  <a:srgbClr val="334155"/>
                </a:solidFill>
              </a:rPr>
              <a:t>Bitwise simulation engine generates full truth tables across all 2^N input permutations, catching logic bugs without physical test vectors.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REVIEW POINT 4 (PART 1)</a:t>
            </a:r>
          </a:p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4. Algorithms / Pseudocode — Graph Representation &amp; Cycle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First Review (Oct 12, 2026) | Digital Logic Circuit Simulator | Markanda Meher &amp; Nikhil | Slide 5 of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Module 1: Graph Model &amp; Netlist Builder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Data Structure: Directed Graph G = (V, E) with Adjacency List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Algorithm BuildCircuitGraph(Gates V, Wires E):</a:t>
            </a:r>
            <a:br/>
            <a:r>
              <a:t>1:  adjList  = HashMap&lt;GateID, List&lt;GateID&gt;&gt;()</a:t>
            </a:r>
            <a:br/>
            <a:r>
              <a:t>2:  inDegree = HashMap&lt;GateID, Integer&gt;()</a:t>
            </a:r>
            <a:br/>
            <a:r>
              <a:t>3:  For each gate g in V:</a:t>
            </a:r>
            <a:br/>
            <a:r>
              <a:t>4:      adjList[g.id] = empty_list()</a:t>
            </a:r>
            <a:br/>
            <a:r>
              <a:t>5:      inDegree[g.id] = 0</a:t>
            </a:r>
            <a:br/>
            <a:r>
              <a:t>6:  For each wire (u, v) in E:</a:t>
            </a:r>
            <a:br/>
            <a:r>
              <a:t>7:      // u is driver gate, v is load gate</a:t>
            </a:r>
            <a:br/>
            <a:r>
              <a:t>8:      adjList[u].append(v)</a:t>
            </a:r>
            <a:br/>
            <a:r>
              <a:t>9:      inDegree[v] = inDegree[v] + 1</a:t>
            </a:r>
            <a:br/>
            <a:r>
              <a:t>10: Return (adjList, inDegree)</a:t>
            </a:r>
            <a:br/>
            <a:br/>
            <a:r>
              <a:t>Time Complexity:  O(V + E)</a:t>
            </a:r>
            <a:br/>
            <a:r>
              <a:t>Space Complexity: O(V + 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Module 2: Cycle Detection (Tarjan's 3-Color DFS)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Detects illegal feedback loops: WHITE=Unvisited, GRAY=Active, BLACK=Done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Algorithm HasCycleDFS(u, color, adjList):</a:t>
            </a:r>
            <a:br/>
            <a:r>
              <a:t>1:  color[u] = GRAY  // Currently in recursion stack</a:t>
            </a:r>
            <a:br/>
            <a:r>
              <a:t>2:  For each neighbor v in adjList[u]:</a:t>
            </a:r>
            <a:br/>
            <a:r>
              <a:t>3:      If color[v] == GRAY:</a:t>
            </a:r>
            <a:br/>
            <a:r>
              <a:t>4:          RecordCycleBackEdge(u, v)</a:t>
            </a:r>
            <a:br/>
            <a:r>
              <a:t>5:          Return TRUE  // Cycle detected!</a:t>
            </a:r>
            <a:br/>
            <a:r>
              <a:t>6:      If color[v] == WHITE:</a:t>
            </a:r>
            <a:br/>
            <a:r>
              <a:t>7:          If HasCycleDFS(v, color, adjList) == TRUE:</a:t>
            </a:r>
            <a:br/>
            <a:r>
              <a:t>8:              Return TRUE</a:t>
            </a:r>
            <a:br/>
            <a:r>
              <a:t>9:  color[u] = BLACK // Subtree verified cycle-free</a:t>
            </a:r>
            <a:br/>
            <a:r>
              <a:t>10: Return FALSE</a:t>
            </a:r>
            <a:br/>
            <a:br/>
            <a:r>
              <a:t>Time Complexity:  O(V + E)</a:t>
            </a:r>
            <a:br/>
            <a:r>
              <a:t>Space Complexity: O(V) recursion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REVIEW POINT 4 (PART 2)</a:t>
            </a:r>
          </a:p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4. Algorithms / Pseudocode — Scheduling &amp; Logic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First Review (Oct 12, 2026) | Digital Logic Circuit Simulator | Markanda Meher &amp; Nikhil | Slide 6 of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Module 3: Evaluation Scheduler (Kahn's Topo Sort)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Determines strictly valid gate evaluation order via in-degree BFS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Algorithm KahnTopologicalSort(V, inDegree, adjList):</a:t>
            </a:r>
            <a:br/>
            <a:r>
              <a:t>1:  Q = EmptyQueue()</a:t>
            </a:r>
            <a:br/>
            <a:r>
              <a:t>2:  For each gate g in V:</a:t>
            </a:r>
            <a:br/>
            <a:r>
              <a:t>3:      If inDegree[g] == 0: Q.push(g)</a:t>
            </a:r>
            <a:br/>
            <a:r>
              <a:t>4:  evalOrder = []</a:t>
            </a:r>
            <a:br/>
            <a:r>
              <a:t>5:  While Q is not empty:</a:t>
            </a:r>
            <a:br/>
            <a:r>
              <a:t>6:      u = Q.pop()</a:t>
            </a:r>
            <a:br/>
            <a:r>
              <a:t>7:      evalOrder.append(u)</a:t>
            </a:r>
            <a:br/>
            <a:r>
              <a:t>8:      For each v in adjList[u]:</a:t>
            </a:r>
            <a:br/>
            <a:r>
              <a:t>9:          inDegree[v] = inDegree[v] - 1</a:t>
            </a:r>
            <a:br/>
            <a:r>
              <a:t>10:         If inDegree[v] == 0: Q.push(v)</a:t>
            </a:r>
            <a:br/>
            <a:r>
              <a:t>11: Return evalOrder</a:t>
            </a:r>
            <a:br/>
            <a:br/>
            <a:r>
              <a:t>Time Complexity:  O(V + E)</a:t>
            </a:r>
            <a:br/>
            <a:r>
              <a:t>Space Complexity: O(V)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Module 4: Logic Execution &amp; Truth Table Engine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Propagates boolean states through ordered gates and verifies outputs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Algorithm SimulateCircuit(evalOrder, inputVector):</a:t>
            </a:r>
            <a:br/>
            <a:r>
              <a:t>1:  values = HashMap&lt;GateID, Boolean&gt;()</a:t>
            </a:r>
            <a:br/>
            <a:r>
              <a:t>2:  For each g in evalOrder:</a:t>
            </a:r>
            <a:br/>
            <a:r>
              <a:t>3:      If g.type == INPUT:</a:t>
            </a:r>
            <a:br/>
            <a:r>
              <a:t>4:          values[g] = inputVector[g.id]</a:t>
            </a:r>
            <a:br/>
            <a:r>
              <a:t>5:      Else:</a:t>
            </a:r>
            <a:br/>
            <a:r>
              <a:t>6:          inVals = [values[p] for p in g.predecessors]</a:t>
            </a:r>
            <a:br/>
            <a:r>
              <a:t>7:          values[g] = EvaluateGate(g.type, inVals)</a:t>
            </a:r>
            <a:br/>
            <a:r>
              <a:t>8:  Return values</a:t>
            </a:r>
            <a:br/>
            <a:br/>
            <a:r>
              <a:t>Algorithm GenerateTruthTable(N_inputs, evalOrder):</a:t>
            </a:r>
            <a:br/>
            <a:r>
              <a:t>1:  For row = 0 to (2^N - 1):</a:t>
            </a:r>
            <a:br/>
            <a:r>
              <a:t>2:      inputVector = DecodeBits(row, N_inputs)</a:t>
            </a:r>
            <a:br/>
            <a:r>
              <a:t>3:      outputRow = SimulateCircuit(evalOrder, inputVector)</a:t>
            </a:r>
            <a:br/>
            <a:r>
              <a:t>4:      PrintTruthTableRow(inputVector, outputRow)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REVIEW POINT 5</a:t>
            </a:r>
          </a:p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5. Dataset — IEEE ISCAS '85 Benchmark Circuit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First Review (Oct 12, 2026) | Digital Logic Circuit Simulator | Markanda Meher &amp; Nikhil | Slide 7 of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Benchmark Suite &amp; Repository Links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Dataset Name: </a:t>
            </a:r>
            <a:r>
              <a:rPr b="0">
                <a:solidFill>
                  <a:srgbClr val="334155"/>
                </a:solidFill>
              </a:rPr>
              <a:t>IEEE ISCAS '85 Benchmark Suite (International Symposium on Circuits and Systems).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Industry Standard: </a:t>
            </a:r>
            <a:r>
              <a:rPr b="0">
                <a:solidFill>
                  <a:srgbClr val="334155"/>
                </a:solidFill>
              </a:rPr>
              <a:t>The universally accepted benchmark suite in Electronic Design Automation (EDA) and academic CAD research for combinational circuit validation.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Repository Link 1 (Primary): </a:t>
            </a:r>
            <a:r>
              <a:rPr b="0">
                <a:solidFill>
                  <a:srgbClr val="334155"/>
                </a:solidFill>
              </a:rPr>
              <a:t>University of Tennessee EECS CAD Lab:
https://web.eecs.utk.edu/~troy/benchmark/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Repository Link 2 (Mirror): </a:t>
            </a:r>
            <a:r>
              <a:rPr b="0">
                <a:solidFill>
                  <a:srgbClr val="334155"/>
                </a:solidFill>
              </a:rPr>
              <a:t>Czech Technical University (FEE CTU Benchmarks):
https://ddd.fit.cvut.cz/prj/Benchmarks/</a:t>
            </a:r>
          </a:p>
          <a:p>
            <a:pPr>
              <a:spcAft>
                <a:spcPts val="800"/>
              </a:spcAft>
              <a:defRPr sz="1150" b="1">
                <a:solidFill>
                  <a:srgbClr val="334155"/>
                </a:solidFill>
                <a:latin typeface="Arial"/>
              </a:defRPr>
            </a:pPr>
            <a:r>
              <a:t>• Netlist Format (.bench): </a:t>
            </a:r>
            <a:r>
              <a:rPr b="0">
                <a:solidFill>
                  <a:srgbClr val="334155"/>
                </a:solidFill>
              </a:rPr>
              <a:t>Human-readable ASCII defining Primary Inputs (INPUT), Primary Outputs (OUTPUT), and gate connection equations (e.g., 10 = NAND(1, 3)).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16636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Benchmark Circuits &amp; Project Role</a:t>
            </a:r>
          </a:p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• c17 (6 Gates, 5 Inputs, 2 Outputs): </a:t>
            </a:r>
            <a:r>
              <a:rPr b="0">
                <a:solidFill>
                  <a:srgbClr val="334155"/>
                </a:solidFill>
              </a:rPr>
              <a:t>Smallest ISCAS netlist; used for fundamental algorithmic sanity checks and truth table validation across all 32 combinations.</a:t>
            </a:r>
          </a:p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• c432 (160 Gates, 36 Inputs, 7 Outputs): </a:t>
            </a:r>
            <a:r>
              <a:rPr b="0">
                <a:solidFill>
                  <a:srgbClr val="334155"/>
                </a:solidFill>
              </a:rPr>
              <a:t>27-channel interrupt controller; tests topological scheduling performance on medium-scale fanout networks.</a:t>
            </a:r>
          </a:p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• c499 (202 Gates, 41 Inputs, 32 Outputs): </a:t>
            </a:r>
            <a:r>
              <a:rPr b="0">
                <a:solidFill>
                  <a:srgbClr val="334155"/>
                </a:solidFill>
              </a:rPr>
              <a:t>32-bit single-error-correcting circuit (SEC-DED); verifies deep logic paths.</a:t>
            </a:r>
          </a:p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• c880 (383 Gates, 60 Inputs, 26 Outputs): </a:t>
            </a:r>
            <a:r>
              <a:rPr b="0">
                <a:solidFill>
                  <a:srgbClr val="334155"/>
                </a:solidFill>
              </a:rPr>
              <a:t>8-bit Arithmetic Logic Unit (ALU); evaluates asymptotic time complexity and memory scaling on 380+ nodes.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Purpose in Project: Verifies cycle detection, proves logic correctness against reference truth tables, and demonstrates linear O(V + E)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CONCLUSION</a:t>
            </a:r>
          </a:p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Summary of First Review Deliverables &amp; Review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First Review (Oct 12, 2026) | Digital Logic Circuit Simulator | Markanda Meher &amp; Nikhil | Slide 8 of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Review Alignment Matrix</a:t>
            </a:r>
          </a:p>
          <a:p>
            <a:pPr>
              <a:spcAft>
                <a:spcPts val="1000"/>
              </a:spcAft>
              <a:defRPr sz="1250" b="1">
                <a:solidFill>
                  <a:srgbClr val="2563EB"/>
                </a:solidFill>
                <a:latin typeface="Arial"/>
              </a:defRPr>
            </a:pPr>
            <a:r>
              <a:t>✔ 1. Problem Statement &amp; Need: </a:t>
            </a:r>
            <a:r>
              <a:rPr b="0">
                <a:solidFill>
                  <a:srgbClr val="334155"/>
                </a:solidFill>
              </a:rPr>
              <a:t>Demonstrated the physical constraints of breadboard circuits and established the need for a software DAG simulator.</a:t>
            </a:r>
          </a:p>
          <a:p>
            <a:pPr>
              <a:spcAft>
                <a:spcPts val="1000"/>
              </a:spcAft>
              <a:defRPr sz="1250" b="1">
                <a:solidFill>
                  <a:srgbClr val="2563EB"/>
                </a:solidFill>
                <a:latin typeface="Arial"/>
              </a:defRPr>
            </a:pPr>
            <a:r>
              <a:t>✔ 2. Literature Survey: </a:t>
            </a:r>
            <a:r>
              <a:rPr b="0">
                <a:solidFill>
                  <a:srgbClr val="334155"/>
                </a:solidFill>
              </a:rPr>
              <a:t>Analyzed 3 landmark papers (Kahn 1962, Tarjan 1972 DFS, Tarjan 1975 DSU) and clearly identified their algorithmic drawbacks.</a:t>
            </a:r>
          </a:p>
          <a:p>
            <a:pPr>
              <a:spcAft>
                <a:spcPts val="1000"/>
              </a:spcAft>
              <a:defRPr sz="1250" b="1">
                <a:solidFill>
                  <a:srgbClr val="2563EB"/>
                </a:solidFill>
                <a:latin typeface="Arial"/>
              </a:defRPr>
            </a:pPr>
            <a:r>
              <a:t>✔ 3. Block Diagram &amp; Novelty: </a:t>
            </a:r>
            <a:r>
              <a:rPr b="0">
                <a:solidFill>
                  <a:srgbClr val="334155"/>
                </a:solidFill>
              </a:rPr>
              <a:t>Presented a 4-module architecture featuring dual-phase graph validation (DFS cycle isolation + Kahn's levelized scheduling).</a:t>
            </a:r>
          </a:p>
          <a:p>
            <a:pPr>
              <a:spcAft>
                <a:spcPts val="1000"/>
              </a:spcAft>
              <a:defRPr sz="1250" b="1">
                <a:solidFill>
                  <a:srgbClr val="2563EB"/>
                </a:solidFill>
                <a:latin typeface="Arial"/>
              </a:defRPr>
            </a:pPr>
            <a:r>
              <a:t>✔ 4. Algorithms &amp; Pseudocode: </a:t>
            </a:r>
            <a:r>
              <a:rPr b="0">
                <a:solidFill>
                  <a:srgbClr val="334155"/>
                </a:solidFill>
              </a:rPr>
              <a:t>Provided formal pseudocode and asymptotic analysis for all 4 modules (Graph Builder, 3-Color DFS, Kahn's BFS, Logic Simulation).</a:t>
            </a:r>
          </a:p>
          <a:p>
            <a:pPr>
              <a:spcAft>
                <a:spcPts val="1000"/>
              </a:spcAft>
              <a:defRPr sz="1250" b="1">
                <a:solidFill>
                  <a:srgbClr val="2563EB"/>
                </a:solidFill>
                <a:latin typeface="Arial"/>
              </a:defRPr>
            </a:pPr>
            <a:r>
              <a:t>✔ 5. Dataset &amp; Benchmark: </a:t>
            </a:r>
            <a:r>
              <a:rPr b="0">
                <a:solidFill>
                  <a:srgbClr val="334155"/>
                </a:solidFill>
              </a:rPr>
              <a:t>Documented the official IEEE ISCAS '85 suite with university download links and verified c17 truth table correctness.</a:t>
            </a:r>
          </a:p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Thank You. Open for Questions from the Review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