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097280" y="914400"/>
            <a:ext cx="9997135" cy="36576"/>
          </a:xfrm>
          <a:prstGeom prst="rect">
            <a:avLst/>
          </a:prstGeom>
          <a:solidFill>
            <a:srgbClr val="1C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280160"/>
            <a:ext cx="9997135" cy="4389120"/>
          </a:xfrm>
          <a:prstGeom prst="rect">
            <a:avLst/>
          </a:prstGeom>
          <a:noFill/>
        </p:spPr>
        <p:txBody>
          <a:bodyPr wrap="square">
            <a:spAutoFit/>
          </a:bodyPr>
          <a:lstStyle/>
          <a:p>
            <a:pPr>
              <a:spcAft>
                <a:spcPts val="600"/>
              </a:spcAft>
              <a:defRPr sz="1200" b="1">
                <a:solidFill>
                  <a:srgbClr val="1C5AA0"/>
                </a:solidFill>
                <a:latin typeface="Arial"/>
              </a:defRPr>
            </a:pPr>
            <a:r>
              <a:t>DEPARTMENT OF COMPUTER SCIENCE &amp; ENGINEERING</a:t>
            </a:r>
          </a:p>
          <a:p>
            <a:pPr>
              <a:spcAft>
                <a:spcPts val="2200"/>
              </a:spcAft>
              <a:defRPr sz="1400">
                <a:solidFill>
                  <a:srgbClr val="697382"/>
                </a:solidFill>
                <a:latin typeface="Arial"/>
              </a:defRPr>
            </a:pPr>
            <a:r>
              <a:t>Advanced Data Structures &amp; Algorithms — Course Project</a:t>
            </a:r>
          </a:p>
          <a:p>
            <a:pPr>
              <a:spcAft>
                <a:spcPts val="1000"/>
              </a:spcAft>
              <a:defRPr sz="3800" b="1">
                <a:solidFill>
                  <a:srgbClr val="14233C"/>
                </a:solidFill>
                <a:latin typeface="Arial"/>
              </a:defRPr>
            </a:pPr>
            <a:r>
              <a:t>Digital Logic Circuit Simulator</a:t>
            </a:r>
          </a:p>
          <a:p>
            <a:pPr>
              <a:spcAft>
                <a:spcPts val="3600"/>
              </a:spcAft>
              <a:defRPr sz="1800">
                <a:solidFill>
                  <a:srgbClr val="323C4B"/>
                </a:solidFill>
                <a:latin typeface="Arial"/>
              </a:defRPr>
            </a:pPr>
            <a:r>
              <a:t>A Graph-Theoretic Framework for Combinational Logic Validation &amp; Simulation</a:t>
            </a:r>
          </a:p>
          <a:p>
            <a:pPr>
              <a:spcAft>
                <a:spcPts val="400"/>
              </a:spcAft>
              <a:defRPr sz="1300" b="1">
                <a:solidFill>
                  <a:srgbClr val="14233C"/>
                </a:solidFill>
                <a:latin typeface="Arial"/>
              </a:defRPr>
            </a:pPr>
            <a:r>
              <a:t>Presented by:</a:t>
            </a:r>
          </a:p>
          <a:p>
            <a:pPr>
              <a:spcAft>
                <a:spcPts val="2000"/>
              </a:spcAft>
              <a:defRPr sz="1500">
                <a:solidFill>
                  <a:srgbClr val="323C4B"/>
                </a:solidFill>
                <a:latin typeface="Arial"/>
              </a:defRPr>
            </a:pPr>
            <a:r>
              <a:t>Markanda Meher (Roll No. 206126020)   |   Nikhil (Roll No. 206126021)</a:t>
            </a:r>
          </a:p>
          <a:p>
            <a:pPr>
              <a:defRPr sz="1200">
                <a:solidFill>
                  <a:srgbClr val="697382"/>
                </a:solidFill>
                <a:latin typeface="Arial"/>
              </a:defRPr>
            </a:pPr>
            <a:r>
              <a:t>First Review — October 12,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11480"/>
            <a:ext cx="10728655" cy="22860"/>
          </a:xfrm>
          <a:prstGeom prst="rect">
            <a:avLst/>
          </a:prstGeom>
          <a:solidFill>
            <a:srgbClr val="1C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spcAft>
                <a:spcPts val="200"/>
              </a:spcAft>
              <a:defRPr sz="1050" b="1">
                <a:solidFill>
                  <a:srgbClr val="1C5AA0"/>
                </a:solidFill>
                <a:latin typeface="Arial"/>
              </a:defRPr>
            </a:pPr>
            <a:r>
              <a:t>1. INTRODUCTION &amp; PROBLEM DEFINITION</a:t>
            </a:r>
          </a:p>
          <a:p>
            <a:pPr>
              <a:defRPr sz="2200" b="1">
                <a:solidFill>
                  <a:srgbClr val="14233C"/>
                </a:solidFill>
                <a:latin typeface="Arial"/>
              </a:defRPr>
            </a:pPr>
            <a:r>
              <a:t>Physical Digital Circuit Prototyping Bottlenecks</a:t>
            </a:r>
          </a:p>
        </p:txBody>
      </p:sp>
      <p:sp>
        <p:nvSpPr>
          <p:cNvPr id="4" name="TextBox 3"/>
          <p:cNvSpPr txBox="1"/>
          <p:nvPr/>
        </p:nvSpPr>
        <p:spPr>
          <a:xfrm>
            <a:off x="731520" y="6446520"/>
            <a:ext cx="10728655" cy="274320"/>
          </a:xfrm>
          <a:prstGeom prst="rect">
            <a:avLst/>
          </a:prstGeom>
          <a:noFill/>
        </p:spPr>
        <p:txBody>
          <a:bodyPr wrap="none" lIns="0" tIns="0" rIns="0" bIns="0">
            <a:spAutoFit/>
          </a:bodyPr>
          <a:lstStyle/>
          <a:p>
            <a:pPr>
              <a:defRPr sz="950">
                <a:solidFill>
                  <a:srgbClr val="697382"/>
                </a:solidFill>
                <a:latin typeface="Arial"/>
              </a:defRPr>
            </a:pPr>
            <a:r>
              <a:t>First Review (Oct 12, 2026) | Digital Logic Circuit Simulator | Markanda Meher &amp; Nikhil | Slide 2 of 12</a:t>
            </a:r>
          </a:p>
        </p:txBody>
      </p:sp>
      <p:sp>
        <p:nvSpPr>
          <p:cNvPr id="5" name="TextBox 4"/>
          <p:cNvSpPr txBox="1"/>
          <p:nvPr/>
        </p:nvSpPr>
        <p:spPr>
          <a:xfrm>
            <a:off x="731520" y="1463040"/>
            <a:ext cx="5120640" cy="4663440"/>
          </a:xfrm>
          <a:prstGeom prst="rect">
            <a:avLst/>
          </a:prstGeom>
          <a:noFill/>
        </p:spPr>
        <p:txBody>
          <a:bodyPr wrap="square">
            <a:spAutoFit/>
          </a:bodyPr>
          <a:lstStyle/>
          <a:p>
            <a:pPr>
              <a:spcAft>
                <a:spcPts val="1400"/>
              </a:spcAft>
              <a:defRPr sz="1600" b="1">
                <a:solidFill>
                  <a:srgbClr val="14233C"/>
                </a:solidFill>
                <a:latin typeface="Arial"/>
              </a:defRPr>
            </a:pPr>
            <a:r>
              <a:t>Hardware Prototyping Constraints</a:t>
            </a:r>
          </a:p>
          <a:p>
            <a:pPr>
              <a:spcAft>
                <a:spcPts val="1000"/>
              </a:spcAft>
              <a:defRPr sz="1200" b="1">
                <a:solidFill>
                  <a:srgbClr val="323C4B"/>
                </a:solidFill>
                <a:latin typeface="Arial"/>
              </a:defRPr>
            </a:pPr>
            <a:r>
              <a:t>• Discrete Breadboard Congestion: </a:t>
            </a:r>
            <a:r>
              <a:rPr b="0">
                <a:solidFill>
                  <a:srgbClr val="323C4B"/>
                </a:solidFill>
              </a:rPr>
              <a:t>Constructing multi-gate combinational designs requires dozens of physical jumper wires. Loose pin contacts, contact bounce, and wiring clutter frequently obscure connectivity.</a:t>
            </a:r>
          </a:p>
          <a:p>
            <a:pPr>
              <a:spcAft>
                <a:spcPts val="1000"/>
              </a:spcAft>
              <a:defRPr sz="1200" b="1">
                <a:solidFill>
                  <a:srgbClr val="323C4B"/>
                </a:solidFill>
                <a:latin typeface="Arial"/>
              </a:defRPr>
            </a:pPr>
            <a:r>
              <a:t>• Absence of Automated Verification: </a:t>
            </a:r>
            <a:r>
              <a:rPr b="0">
                <a:solidFill>
                  <a:srgbClr val="323C4B"/>
                </a:solidFill>
              </a:rPr>
              <a:t>Physical breadboards lack any design-rule checking mechanism. Illegal configurations—such as unwanted circular feedback loops or shorted gate outputs—are undetectable prior to powering the circuit.</a:t>
            </a:r>
          </a:p>
          <a:p>
            <a:pPr>
              <a:spcAft>
                <a:spcPts val="1000"/>
              </a:spcAft>
              <a:defRPr sz="1200" b="1">
                <a:solidFill>
                  <a:srgbClr val="323C4B"/>
                </a:solidFill>
                <a:latin typeface="Arial"/>
              </a:defRPr>
            </a:pPr>
            <a:r>
              <a:t>• Component Damage &amp; Resource Waste: </a:t>
            </a:r>
            <a:r>
              <a:rPr b="0">
                <a:solidFill>
                  <a:srgbClr val="323C4B"/>
                </a:solidFill>
              </a:rPr>
              <a:t>Accidental reverse polarity, inverted IC pin insertion, or shorted VCC/GND traces permanently destroy 7400-series TTL/CMOS integrated circuits, incurring recurring laboratory replacement costs.</a:t>
            </a:r>
          </a:p>
          <a:p>
            <a:pPr>
              <a:spcAft>
                <a:spcPts val="1000"/>
              </a:spcAft>
              <a:defRPr sz="1200" b="1">
                <a:solidFill>
                  <a:srgbClr val="323C4B"/>
                </a:solidFill>
                <a:latin typeface="Arial"/>
              </a:defRPr>
            </a:pPr>
            <a:r>
              <a:t>• Tedious Manual Fault Localization: </a:t>
            </a:r>
            <a:r>
              <a:rPr b="0">
                <a:solidFill>
                  <a:srgbClr val="323C4B"/>
                </a:solidFill>
              </a:rPr>
              <a:t>Isolating a single faulty connection or burned gate requires slow, manual node-by-node probing with multimeters or oscilloscopes.</a:t>
            </a:r>
          </a:p>
        </p:txBody>
      </p:sp>
      <p:sp>
        <p:nvSpPr>
          <p:cNvPr id="6" name="TextBox 5"/>
          <p:cNvSpPr txBox="1"/>
          <p:nvPr/>
        </p:nvSpPr>
        <p:spPr>
          <a:xfrm>
            <a:off x="6309360" y="1463040"/>
            <a:ext cx="5120640" cy="4663440"/>
          </a:xfrm>
          <a:prstGeom prst="rect">
            <a:avLst/>
          </a:prstGeom>
          <a:noFill/>
        </p:spPr>
        <p:txBody>
          <a:bodyPr wrap="square">
            <a:spAutoFit/>
          </a:bodyPr>
          <a:lstStyle/>
          <a:p>
            <a:pPr>
              <a:spcAft>
                <a:spcPts val="1400"/>
              </a:spcAft>
              <a:defRPr sz="1600" b="1">
                <a:solidFill>
                  <a:srgbClr val="1C5AA0"/>
                </a:solidFill>
                <a:latin typeface="Arial"/>
              </a:defRPr>
            </a:pPr>
            <a:r>
              <a:t>Academic &amp; Scalability Impact</a:t>
            </a:r>
          </a:p>
          <a:p>
            <a:pPr>
              <a:spcAft>
                <a:spcPts val="1200"/>
              </a:spcAft>
              <a:defRPr sz="1250" b="1">
                <a:solidFill>
                  <a:srgbClr val="323C4B"/>
                </a:solidFill>
                <a:latin typeface="Arial"/>
              </a:defRPr>
            </a:pPr>
            <a:r>
              <a:t>• High Cognitive Debugging Overhead: </a:t>
            </a:r>
            <a:r>
              <a:rPr b="0">
                <a:solidFill>
                  <a:srgbClr val="323C4B"/>
                </a:solidFill>
              </a:rPr>
              <a:t>Students and engineers often spend over 70% of experimental laboratory sessions troubleshooting physical wire loose ends rather than studying digital logic and computer architecture fundamentals.</a:t>
            </a:r>
          </a:p>
          <a:p>
            <a:pPr>
              <a:spcAft>
                <a:spcPts val="1200"/>
              </a:spcAft>
              <a:defRPr sz="1250" b="1">
                <a:solidFill>
                  <a:srgbClr val="323C4B"/>
                </a:solidFill>
                <a:latin typeface="Arial"/>
              </a:defRPr>
            </a:pPr>
            <a:r>
              <a:t>• Strict Scalability Ceiling: </a:t>
            </a:r>
            <a:r>
              <a:rPr b="0">
                <a:solidFill>
                  <a:srgbClr val="323C4B"/>
                </a:solidFill>
              </a:rPr>
              <a:t>Scaling beyond 15–20 logic gates (e.g., 4-bit Arithmetic Logic Units, multiplexer trees, or multi-bit adders) becomes physically impractical on educational breadboard layouts.</a:t>
            </a:r>
          </a:p>
          <a:p>
            <a:pPr>
              <a:spcAft>
                <a:spcPts val="1200"/>
              </a:spcAft>
              <a:defRPr sz="1250" b="1">
                <a:solidFill>
                  <a:srgbClr val="323C4B"/>
                </a:solidFill>
                <a:latin typeface="Arial"/>
              </a:defRPr>
            </a:pPr>
            <a:r>
              <a:t>• Need for Pre-Silicon Modeling: </a:t>
            </a:r>
            <a:r>
              <a:rPr b="0">
                <a:solidFill>
                  <a:srgbClr val="323C4B"/>
                </a:solidFill>
              </a:rPr>
              <a:t>Modern VLSI engineering mandates software verification before hardware fabrication. An educational simulator bridges this gap by demonstrating how algorithmic models replace costly physical trial-and-error.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11480"/>
            <a:ext cx="10728655" cy="22860"/>
          </a:xfrm>
          <a:prstGeom prst="rect">
            <a:avLst/>
          </a:prstGeom>
          <a:solidFill>
            <a:srgbClr val="1C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spcAft>
                <a:spcPts val="200"/>
              </a:spcAft>
              <a:defRPr sz="1050" b="1">
                <a:solidFill>
                  <a:srgbClr val="1C5AA0"/>
                </a:solidFill>
                <a:latin typeface="Arial"/>
              </a:defRPr>
            </a:pPr>
            <a:r>
              <a:t>1. INTRODUCTION &amp; PROBLEM DEFINITION</a:t>
            </a:r>
          </a:p>
          <a:p>
            <a:pPr>
              <a:defRPr sz="2200" b="1">
                <a:solidFill>
                  <a:srgbClr val="14233C"/>
                </a:solidFill>
                <a:latin typeface="Arial"/>
              </a:defRPr>
            </a:pPr>
            <a:r>
              <a:t>The Graph-Theoretic Software Simulation Paradigm</a:t>
            </a:r>
          </a:p>
        </p:txBody>
      </p:sp>
      <p:sp>
        <p:nvSpPr>
          <p:cNvPr id="4" name="TextBox 3"/>
          <p:cNvSpPr txBox="1"/>
          <p:nvPr/>
        </p:nvSpPr>
        <p:spPr>
          <a:xfrm>
            <a:off x="731520" y="6446520"/>
            <a:ext cx="10728655" cy="274320"/>
          </a:xfrm>
          <a:prstGeom prst="rect">
            <a:avLst/>
          </a:prstGeom>
          <a:noFill/>
        </p:spPr>
        <p:txBody>
          <a:bodyPr wrap="none" lIns="0" tIns="0" rIns="0" bIns="0">
            <a:spAutoFit/>
          </a:bodyPr>
          <a:lstStyle/>
          <a:p>
            <a:pPr>
              <a:defRPr sz="950">
                <a:solidFill>
                  <a:srgbClr val="697382"/>
                </a:solidFill>
                <a:latin typeface="Arial"/>
              </a:defRPr>
            </a:pPr>
            <a:r>
              <a:t>First Review (Oct 12, 2026) | Digital Logic Circuit Simulator | Markanda Meher &amp; Nikhil | Slide 3 of 12</a:t>
            </a:r>
          </a:p>
        </p:txBody>
      </p:sp>
      <p:sp>
        <p:nvSpPr>
          <p:cNvPr id="5" name="TextBox 4"/>
          <p:cNvSpPr txBox="1"/>
          <p:nvPr/>
        </p:nvSpPr>
        <p:spPr>
          <a:xfrm>
            <a:off x="731520" y="1463040"/>
            <a:ext cx="5120640" cy="4663440"/>
          </a:xfrm>
          <a:prstGeom prst="rect">
            <a:avLst/>
          </a:prstGeom>
          <a:noFill/>
        </p:spPr>
        <p:txBody>
          <a:bodyPr wrap="square">
            <a:spAutoFit/>
          </a:bodyPr>
          <a:lstStyle/>
          <a:p>
            <a:pPr>
              <a:spcAft>
                <a:spcPts val="1400"/>
              </a:spcAft>
              <a:defRPr sz="1600" b="1">
                <a:solidFill>
                  <a:srgbClr val="14233C"/>
                </a:solidFill>
                <a:latin typeface="Arial"/>
              </a:defRPr>
            </a:pPr>
            <a:r>
              <a:t>Mathematical Graph Abstraction</a:t>
            </a:r>
          </a:p>
          <a:p>
            <a:pPr>
              <a:spcAft>
                <a:spcPts val="1200"/>
              </a:spcAft>
              <a:defRPr sz="1250" b="1">
                <a:solidFill>
                  <a:srgbClr val="323C4B"/>
                </a:solidFill>
                <a:latin typeface="Arial"/>
              </a:defRPr>
            </a:pPr>
            <a:r>
              <a:t>• Directed Graph Formalism: </a:t>
            </a:r>
            <a:r>
              <a:rPr b="0">
                <a:solidFill>
                  <a:srgbClr val="323C4B"/>
                </a:solidFill>
              </a:rPr>
              <a:t>A digital combinational circuit is mathematically modeled as a Directed Acyclic Graph G = (V, E), where logic gates are vertices and interconnecting wires are directed edges.</a:t>
            </a:r>
          </a:p>
          <a:p>
            <a:pPr>
              <a:spcAft>
                <a:spcPts val="1200"/>
              </a:spcAft>
              <a:defRPr sz="1250" b="1">
                <a:solidFill>
                  <a:srgbClr val="323C4B"/>
                </a:solidFill>
                <a:latin typeface="Arial"/>
              </a:defRPr>
            </a:pPr>
            <a:r>
              <a:t>• Strict Signal Causality: </a:t>
            </a:r>
            <a:r>
              <a:rPr b="0">
                <a:solidFill>
                  <a:srgbClr val="323C4B"/>
                </a:solidFill>
              </a:rPr>
              <a:t>Directed edges enforce physical signal propagation—signals flow strictly from driver output pins into load input pins with zero ambiguity.</a:t>
            </a:r>
          </a:p>
          <a:p>
            <a:pPr>
              <a:spcAft>
                <a:spcPts val="1200"/>
              </a:spcAft>
              <a:defRPr sz="1250" b="1">
                <a:solidFill>
                  <a:srgbClr val="323C4B"/>
                </a:solidFill>
                <a:latin typeface="Arial"/>
              </a:defRPr>
            </a:pPr>
            <a:r>
              <a:t>• Decoupling Geometry from Logic: </a:t>
            </a:r>
            <a:r>
              <a:rPr b="0">
                <a:solidFill>
                  <a:srgbClr val="323C4B"/>
                </a:solidFill>
              </a:rPr>
              <a:t>Abstracts away physical wire resistance, capacitance, and mechanical wear, allowing focus purely on functional correctness and topological structure.</a:t>
            </a:r>
          </a:p>
        </p:txBody>
      </p:sp>
      <p:sp>
        <p:nvSpPr>
          <p:cNvPr id="6" name="TextBox 5"/>
          <p:cNvSpPr txBox="1"/>
          <p:nvPr/>
        </p:nvSpPr>
        <p:spPr>
          <a:xfrm>
            <a:off x="6309360" y="1463040"/>
            <a:ext cx="5120640" cy="4663440"/>
          </a:xfrm>
          <a:prstGeom prst="rect">
            <a:avLst/>
          </a:prstGeom>
          <a:noFill/>
        </p:spPr>
        <p:txBody>
          <a:bodyPr wrap="square">
            <a:spAutoFit/>
          </a:bodyPr>
          <a:lstStyle/>
          <a:p>
            <a:pPr>
              <a:spcAft>
                <a:spcPts val="1400"/>
              </a:spcAft>
              <a:defRPr sz="1600" b="1">
                <a:solidFill>
                  <a:srgbClr val="1C5AA0"/>
                </a:solidFill>
                <a:latin typeface="Arial"/>
              </a:defRPr>
            </a:pPr>
            <a:r>
              <a:t>Simulation Capabilities &amp; Objectives</a:t>
            </a:r>
          </a:p>
          <a:p>
            <a:pPr>
              <a:spcAft>
                <a:spcPts val="1000"/>
              </a:spcAft>
              <a:defRPr sz="1200" b="1">
                <a:solidFill>
                  <a:srgbClr val="323C4B"/>
                </a:solidFill>
                <a:latin typeface="Arial"/>
              </a:defRPr>
            </a:pPr>
            <a:r>
              <a:t>• Automated Cycle Trapping: </a:t>
            </a:r>
            <a:r>
              <a:rPr b="0">
                <a:solidFill>
                  <a:srgbClr val="323C4B"/>
                </a:solidFill>
              </a:rPr>
              <a:t>Traverses the graph in linear time O(V + E) to detect feedback loops before simulation begins, preventing infinite oscillation in combinational circuits.</a:t>
            </a:r>
          </a:p>
          <a:p>
            <a:pPr>
              <a:spcAft>
                <a:spcPts val="1000"/>
              </a:spcAft>
              <a:defRPr sz="1200" b="1">
                <a:solidFill>
                  <a:srgbClr val="323C4B"/>
                </a:solidFill>
                <a:latin typeface="Arial"/>
              </a:defRPr>
            </a:pPr>
            <a:r>
              <a:t>• Topological Execution Ordering: </a:t>
            </a:r>
            <a:r>
              <a:rPr b="0">
                <a:solidFill>
                  <a:srgbClr val="323C4B"/>
                </a:solidFill>
              </a:rPr>
              <a:t>Computes a valid evaluation schedule, guaranteeing every gate computes only after all its input dependencies have settled, eliminating race conditions.</a:t>
            </a:r>
          </a:p>
          <a:p>
            <a:pPr>
              <a:spcAft>
                <a:spcPts val="1000"/>
              </a:spcAft>
              <a:defRPr sz="1200" b="1">
                <a:solidFill>
                  <a:srgbClr val="323C4B"/>
                </a:solidFill>
                <a:latin typeface="Arial"/>
              </a:defRPr>
            </a:pPr>
            <a:r>
              <a:t>• Exhaustive Truth Table Generation: </a:t>
            </a:r>
            <a:r>
              <a:rPr b="0">
                <a:solidFill>
                  <a:srgbClr val="323C4B"/>
                </a:solidFill>
              </a:rPr>
              <a:t>Simulates all 2^N input combinations automatically, verifying logical equivalence against theoretical Boolean algebra in milliseconds.</a:t>
            </a:r>
          </a:p>
          <a:p>
            <a:pPr>
              <a:spcAft>
                <a:spcPts val="1000"/>
              </a:spcAft>
              <a:defRPr sz="1200" b="1">
                <a:solidFill>
                  <a:srgbClr val="323C4B"/>
                </a:solidFill>
                <a:latin typeface="Arial"/>
              </a:defRPr>
            </a:pPr>
            <a:r>
              <a:t>• Safe, Zero-Cost Experimentation: </a:t>
            </a:r>
            <a:r>
              <a:rPr b="0">
                <a:solidFill>
                  <a:srgbClr val="323C4B"/>
                </a:solidFill>
              </a:rPr>
              <a:t>Enables students to freely modify netlists, probe individual gate pins, and validate complex architectures with zero hardware costs.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11480"/>
            <a:ext cx="10728655" cy="22860"/>
          </a:xfrm>
          <a:prstGeom prst="rect">
            <a:avLst/>
          </a:prstGeom>
          <a:solidFill>
            <a:srgbClr val="1C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spcAft>
                <a:spcPts val="200"/>
              </a:spcAft>
              <a:defRPr sz="1050" b="1">
                <a:solidFill>
                  <a:srgbClr val="1C5AA0"/>
                </a:solidFill>
                <a:latin typeface="Arial"/>
              </a:defRPr>
            </a:pPr>
            <a:r>
              <a:t>2. LITERATURE SURVEY (PAPER 1 OF 3)</a:t>
            </a:r>
          </a:p>
          <a:p>
            <a:pPr>
              <a:defRPr sz="2200" b="1">
                <a:solidFill>
                  <a:srgbClr val="14233C"/>
                </a:solidFill>
                <a:latin typeface="Arial"/>
              </a:defRPr>
            </a:pPr>
            <a:r>
              <a:t>In-Degree Topological Sorting (Kahn, 1962)</a:t>
            </a:r>
          </a:p>
        </p:txBody>
      </p:sp>
      <p:sp>
        <p:nvSpPr>
          <p:cNvPr id="4" name="TextBox 3"/>
          <p:cNvSpPr txBox="1"/>
          <p:nvPr/>
        </p:nvSpPr>
        <p:spPr>
          <a:xfrm>
            <a:off x="731520" y="6446520"/>
            <a:ext cx="10728655" cy="274320"/>
          </a:xfrm>
          <a:prstGeom prst="rect">
            <a:avLst/>
          </a:prstGeom>
          <a:noFill/>
        </p:spPr>
        <p:txBody>
          <a:bodyPr wrap="none" lIns="0" tIns="0" rIns="0" bIns="0">
            <a:spAutoFit/>
          </a:bodyPr>
          <a:lstStyle/>
          <a:p>
            <a:pPr>
              <a:defRPr sz="950">
                <a:solidFill>
                  <a:srgbClr val="697382"/>
                </a:solidFill>
                <a:latin typeface="Arial"/>
              </a:defRPr>
            </a:pPr>
            <a:r>
              <a:t>First Review (Oct 12, 2026) | Digital Logic Circuit Simulator | Markanda Meher &amp; Nikhil | Slide 4 of 12</a:t>
            </a:r>
          </a:p>
        </p:txBody>
      </p:sp>
      <p:sp>
        <p:nvSpPr>
          <p:cNvPr id="5" name="TextBox 4"/>
          <p:cNvSpPr txBox="1"/>
          <p:nvPr/>
        </p:nvSpPr>
        <p:spPr>
          <a:xfrm>
            <a:off x="731520" y="1417320"/>
            <a:ext cx="10728655" cy="4754880"/>
          </a:xfrm>
          <a:prstGeom prst="rect">
            <a:avLst/>
          </a:prstGeom>
          <a:noFill/>
        </p:spPr>
        <p:txBody>
          <a:bodyPr wrap="square">
            <a:spAutoFit/>
          </a:bodyPr>
          <a:lstStyle/>
          <a:p>
            <a:pPr>
              <a:spcAft>
                <a:spcPts val="1400"/>
              </a:spcAft>
              <a:defRPr sz="1200" b="1">
                <a:solidFill>
                  <a:srgbClr val="1C5AA0"/>
                </a:solidFill>
                <a:latin typeface="Arial"/>
              </a:defRPr>
            </a:pPr>
            <a:r>
              <a:t>Citation: A. B. Kahn, "Topological Sorting of Large Networks", Communications of the ACM, Vol. 5, No. 11, pp. 558–562, Nov. 1962.</a:t>
            </a:r>
          </a:p>
          <a:p>
            <a:pPr>
              <a:spcAft>
                <a:spcPts val="600"/>
              </a:spcAft>
              <a:defRPr sz="1500" b="1">
                <a:solidFill>
                  <a:srgbClr val="14233C"/>
                </a:solidFill>
                <a:latin typeface="Arial"/>
              </a:defRPr>
            </a:pPr>
            <a:r>
              <a:t>Analysis of Algorithmic Contents &amp; Contributions:</a:t>
            </a:r>
          </a:p>
          <a:p>
            <a:pPr>
              <a:spcAft>
                <a:spcPts val="400"/>
              </a:spcAft>
              <a:defRPr sz="1300">
                <a:solidFill>
                  <a:srgbClr val="323C4B"/>
                </a:solidFill>
                <a:latin typeface="Arial"/>
              </a:defRPr>
            </a:pPr>
            <a:r>
              <a:t>•  Introduced the in-degree reduction queue paradigm for establishing linear execution schedules in Directed Acyclic Graphs (DAGs).</a:t>
            </a:r>
          </a:p>
          <a:p>
            <a:pPr>
              <a:spcAft>
                <a:spcPts val="400"/>
              </a:spcAft>
              <a:defRPr sz="1300">
                <a:solidFill>
                  <a:srgbClr val="323C4B"/>
                </a:solidFill>
                <a:latin typeface="Arial"/>
              </a:defRPr>
            </a:pPr>
            <a:r>
              <a:t>•  Operates in optimal linear time O(V + E) by tracking in-degrees and enqueuing vertices whose dependencies reach zero.</a:t>
            </a:r>
          </a:p>
          <a:p>
            <a:pPr>
              <a:spcAft>
                <a:spcPts val="400"/>
              </a:spcAft>
              <a:defRPr sz="1300">
                <a:solidFill>
                  <a:srgbClr val="323C4B"/>
                </a:solidFill>
                <a:latin typeface="Arial"/>
              </a:defRPr>
            </a:pPr>
            <a:r>
              <a:t>•  Forms the foundational algorithmic basis for dependency resolution in compilers, task schedulers, and EDA netlist simulation.</a:t>
            </a:r>
          </a:p>
          <a:p>
            <a:pPr>
              <a:spcAft>
                <a:spcPts val="600"/>
              </a:spcAft>
              <a:defRPr sz="1500" b="1">
                <a:solidFill>
                  <a:srgbClr val="A51E28"/>
                </a:solidFill>
                <a:latin typeface="Arial"/>
              </a:defRPr>
            </a:pPr>
            <a:r>
              <a:t>Critical Drawbacks &amp; Limitations for Circuit Simulation:</a:t>
            </a:r>
          </a:p>
          <a:p>
            <a:pPr>
              <a:spcAft>
                <a:spcPts val="600"/>
              </a:spcAft>
              <a:defRPr sz="1300" b="1">
                <a:solidFill>
                  <a:srgbClr val="323C4B"/>
                </a:solidFill>
                <a:latin typeface="Arial"/>
              </a:defRPr>
            </a:pPr>
            <a:r>
              <a:t>•  Silent Failure on Cycles (No Localization): </a:t>
            </a:r>
            <a:r>
              <a:rPr b="0">
                <a:solidFill>
                  <a:srgbClr val="323C4B"/>
                </a:solidFill>
              </a:rPr>
              <a:t>If the netlist contains a feedback loop, Kahn's algorithm halts prematurely when the queue becomes empty with unprocessed gates remaining. Crucially, it cannot pinpoint which specific back-edge or gates formed the cycle.</a:t>
            </a:r>
          </a:p>
          <a:p>
            <a:pPr>
              <a:spcAft>
                <a:spcPts val="600"/>
              </a:spcAft>
              <a:defRPr sz="1300" b="1">
                <a:solidFill>
                  <a:srgbClr val="323C4B"/>
                </a:solidFill>
                <a:latin typeface="Arial"/>
              </a:defRPr>
            </a:pPr>
            <a:r>
              <a:t>•  Arbitrary Tie-Breaking: </a:t>
            </a:r>
            <a:r>
              <a:rPr b="0">
                <a:solidFill>
                  <a:srgbClr val="323C4B"/>
                </a:solidFill>
              </a:rPr>
              <a:t>When multiple gates reach in-degree zero simultaneously, Kahn's algorithm dequeues in arbitrary queue order, failing to organize gates into levelized parallel stages.</a:t>
            </a:r>
          </a:p>
          <a:p>
            <a:pPr>
              <a:spcAft>
                <a:spcPts val="600"/>
              </a:spcAft>
              <a:defRPr sz="1300" b="1">
                <a:solidFill>
                  <a:srgbClr val="323C4B"/>
                </a:solidFill>
                <a:latin typeface="Arial"/>
              </a:defRPr>
            </a:pPr>
            <a:r>
              <a:t>•  Static In-Degree Assumption: </a:t>
            </a:r>
            <a:r>
              <a:rPr b="0">
                <a:solidFill>
                  <a:srgbClr val="323C4B"/>
                </a:solidFill>
              </a:rPr>
              <a:t>Assumes graph topology is completely static; modifying or deleting a wire requires full re-computation of all vertex in-degrees from scratch.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11480"/>
            <a:ext cx="10728655" cy="22860"/>
          </a:xfrm>
          <a:prstGeom prst="rect">
            <a:avLst/>
          </a:prstGeom>
          <a:solidFill>
            <a:srgbClr val="1C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spcAft>
                <a:spcPts val="200"/>
              </a:spcAft>
              <a:defRPr sz="1050" b="1">
                <a:solidFill>
                  <a:srgbClr val="1C5AA0"/>
                </a:solidFill>
                <a:latin typeface="Arial"/>
              </a:defRPr>
            </a:pPr>
            <a:r>
              <a:t>2. LITERATURE SURVEY (PAPER 2 OF 3)</a:t>
            </a:r>
          </a:p>
          <a:p>
            <a:pPr>
              <a:defRPr sz="2200" b="1">
                <a:solidFill>
                  <a:srgbClr val="14233C"/>
                </a:solidFill>
                <a:latin typeface="Arial"/>
              </a:defRPr>
            </a:pPr>
            <a:r>
              <a:t>DFS &amp; Linear Graph Connectivity (Tarjan, 1972)</a:t>
            </a:r>
          </a:p>
        </p:txBody>
      </p:sp>
      <p:sp>
        <p:nvSpPr>
          <p:cNvPr id="4" name="TextBox 3"/>
          <p:cNvSpPr txBox="1"/>
          <p:nvPr/>
        </p:nvSpPr>
        <p:spPr>
          <a:xfrm>
            <a:off x="731520" y="6446520"/>
            <a:ext cx="10728655" cy="274320"/>
          </a:xfrm>
          <a:prstGeom prst="rect">
            <a:avLst/>
          </a:prstGeom>
          <a:noFill/>
        </p:spPr>
        <p:txBody>
          <a:bodyPr wrap="none" lIns="0" tIns="0" rIns="0" bIns="0">
            <a:spAutoFit/>
          </a:bodyPr>
          <a:lstStyle/>
          <a:p>
            <a:pPr>
              <a:defRPr sz="950">
                <a:solidFill>
                  <a:srgbClr val="697382"/>
                </a:solidFill>
                <a:latin typeface="Arial"/>
              </a:defRPr>
            </a:pPr>
            <a:r>
              <a:t>First Review (Oct 12, 2026) | Digital Logic Circuit Simulator | Markanda Meher &amp; Nikhil | Slide 5 of 12</a:t>
            </a:r>
          </a:p>
        </p:txBody>
      </p:sp>
      <p:sp>
        <p:nvSpPr>
          <p:cNvPr id="5" name="TextBox 4"/>
          <p:cNvSpPr txBox="1"/>
          <p:nvPr/>
        </p:nvSpPr>
        <p:spPr>
          <a:xfrm>
            <a:off x="731520" y="1417320"/>
            <a:ext cx="10728655" cy="4754880"/>
          </a:xfrm>
          <a:prstGeom prst="rect">
            <a:avLst/>
          </a:prstGeom>
          <a:noFill/>
        </p:spPr>
        <p:txBody>
          <a:bodyPr wrap="square">
            <a:spAutoFit/>
          </a:bodyPr>
          <a:lstStyle/>
          <a:p>
            <a:pPr>
              <a:spcAft>
                <a:spcPts val="1400"/>
              </a:spcAft>
              <a:defRPr sz="1200" b="1">
                <a:solidFill>
                  <a:srgbClr val="1C5AA0"/>
                </a:solidFill>
                <a:latin typeface="Arial"/>
              </a:defRPr>
            </a:pPr>
            <a:r>
              <a:t>Citation: R. E. Tarjan, "Depth-First Search and Linear Graph Algorithms", SIAM Journal on Computing, Vol. 1, No. 2, pp. 146–160, June 1972.</a:t>
            </a:r>
          </a:p>
          <a:p>
            <a:pPr>
              <a:spcAft>
                <a:spcPts val="600"/>
              </a:spcAft>
              <a:defRPr sz="1500" b="1">
                <a:solidFill>
                  <a:srgbClr val="14233C"/>
                </a:solidFill>
                <a:latin typeface="Arial"/>
              </a:defRPr>
            </a:pPr>
            <a:r>
              <a:t>Analysis of Algorithmic Contents &amp; Contributions:</a:t>
            </a:r>
          </a:p>
          <a:p>
            <a:pPr>
              <a:spcAft>
                <a:spcPts val="400"/>
              </a:spcAft>
              <a:defRPr sz="1300">
                <a:solidFill>
                  <a:srgbClr val="323C4B"/>
                </a:solidFill>
                <a:latin typeface="Arial"/>
              </a:defRPr>
            </a:pPr>
            <a:r>
              <a:t>•  Formalized Depth-First Search using 3-state node classification (White = unvisited, Gray = active in call stack, Black = fully explored).</a:t>
            </a:r>
          </a:p>
          <a:p>
            <a:pPr>
              <a:spcAft>
                <a:spcPts val="400"/>
              </a:spcAft>
              <a:defRPr sz="1300">
                <a:solidFill>
                  <a:srgbClr val="323C4B"/>
                </a:solidFill>
                <a:latin typeface="Arial"/>
              </a:defRPr>
            </a:pPr>
            <a:r>
              <a:t>•  Established linear-time O(V + E) algorithms for detecting strongly connected components (SCC), articulation points, and cycle back-edges.</a:t>
            </a:r>
          </a:p>
          <a:p>
            <a:pPr>
              <a:spcAft>
                <a:spcPts val="400"/>
              </a:spcAft>
              <a:defRPr sz="1300">
                <a:solidFill>
                  <a:srgbClr val="323C4B"/>
                </a:solidFill>
                <a:latin typeface="Arial"/>
              </a:defRPr>
            </a:pPr>
            <a:r>
              <a:t>•  Introduced discovery/finishing timestamps and low-link tracking for deep structural graph decomposition.</a:t>
            </a:r>
          </a:p>
          <a:p>
            <a:pPr>
              <a:spcAft>
                <a:spcPts val="600"/>
              </a:spcAft>
              <a:defRPr sz="1500" b="1">
                <a:solidFill>
                  <a:srgbClr val="A51E28"/>
                </a:solidFill>
                <a:latin typeface="Arial"/>
              </a:defRPr>
            </a:pPr>
            <a:r>
              <a:t>Critical Drawbacks &amp; Limitations for Circuit Simulation:</a:t>
            </a:r>
          </a:p>
          <a:p>
            <a:pPr>
              <a:spcAft>
                <a:spcPts val="600"/>
              </a:spcAft>
              <a:defRPr sz="1300" b="1">
                <a:solidFill>
                  <a:srgbClr val="323C4B"/>
                </a:solidFill>
                <a:latin typeface="Arial"/>
              </a:defRPr>
            </a:pPr>
            <a:r>
              <a:t>•  Recursion Call-Stack Overhead: </a:t>
            </a:r>
            <a:r>
              <a:rPr b="0">
                <a:solidFill>
                  <a:srgbClr val="323C4B"/>
                </a:solidFill>
              </a:rPr>
              <a:t>Standard recursive implementations allocate O(V) stack frames. In deep combinational ripple circuits or large-scale netlists, this risks system stack overflow.</a:t>
            </a:r>
          </a:p>
          <a:p>
            <a:pPr>
              <a:spcAft>
                <a:spcPts val="600"/>
              </a:spcAft>
              <a:defRPr sz="1300" b="1">
                <a:solidFill>
                  <a:srgbClr val="323C4B"/>
                </a:solidFill>
                <a:latin typeface="Arial"/>
              </a:defRPr>
            </a:pPr>
            <a:r>
              <a:t>•  No Forward Evaluation Schedule: </a:t>
            </a:r>
            <a:r>
              <a:rPr b="0">
                <a:solidFill>
                  <a:srgbClr val="323C4B"/>
                </a:solidFill>
              </a:rPr>
              <a:t>While DFS back-edges isolate cycles perfectly, the resulting reverse post-order traversal is inherently backward-directed and does not yield levelized forward simulation stages.</a:t>
            </a:r>
          </a:p>
          <a:p>
            <a:pPr>
              <a:spcAft>
                <a:spcPts val="600"/>
              </a:spcAft>
              <a:defRPr sz="1300" b="1">
                <a:solidFill>
                  <a:srgbClr val="323C4B"/>
                </a:solidFill>
                <a:latin typeface="Arial"/>
              </a:defRPr>
            </a:pPr>
            <a:r>
              <a:t>•  Single-Pin Node Simplification: </a:t>
            </a:r>
            <a:r>
              <a:rPr b="0">
                <a:solidFill>
                  <a:srgbClr val="323C4B"/>
                </a:solidFill>
              </a:rPr>
              <a:t>Classical graph DFS treats each vertex as an atomic scalar entity, failing to handle multiple input pins with distinct logical positions (e.g., MUX select vs data pins).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11480"/>
            <a:ext cx="10728655" cy="22860"/>
          </a:xfrm>
          <a:prstGeom prst="rect">
            <a:avLst/>
          </a:prstGeom>
          <a:solidFill>
            <a:srgbClr val="1C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spcAft>
                <a:spcPts val="200"/>
              </a:spcAft>
              <a:defRPr sz="1050" b="1">
                <a:solidFill>
                  <a:srgbClr val="1C5AA0"/>
                </a:solidFill>
                <a:latin typeface="Arial"/>
              </a:defRPr>
            </a:pPr>
            <a:r>
              <a:t>2. LITERATURE SURVEY (PAPER 3 OF 3)</a:t>
            </a:r>
          </a:p>
          <a:p>
            <a:pPr>
              <a:defRPr sz="2200" b="1">
                <a:solidFill>
                  <a:srgbClr val="14233C"/>
                </a:solidFill>
                <a:latin typeface="Arial"/>
              </a:defRPr>
            </a:pPr>
            <a:r>
              <a:t>Disjoint-Set Union &amp; Net Equivalence (Tarjan, 1975)</a:t>
            </a:r>
          </a:p>
        </p:txBody>
      </p:sp>
      <p:sp>
        <p:nvSpPr>
          <p:cNvPr id="4" name="TextBox 3"/>
          <p:cNvSpPr txBox="1"/>
          <p:nvPr/>
        </p:nvSpPr>
        <p:spPr>
          <a:xfrm>
            <a:off x="731520" y="6446520"/>
            <a:ext cx="10728655" cy="274320"/>
          </a:xfrm>
          <a:prstGeom prst="rect">
            <a:avLst/>
          </a:prstGeom>
          <a:noFill/>
        </p:spPr>
        <p:txBody>
          <a:bodyPr wrap="none" lIns="0" tIns="0" rIns="0" bIns="0">
            <a:spAutoFit/>
          </a:bodyPr>
          <a:lstStyle/>
          <a:p>
            <a:pPr>
              <a:defRPr sz="950">
                <a:solidFill>
                  <a:srgbClr val="697382"/>
                </a:solidFill>
                <a:latin typeface="Arial"/>
              </a:defRPr>
            </a:pPr>
            <a:r>
              <a:t>First Review (Oct 12, 2026) | Digital Logic Circuit Simulator | Markanda Meher &amp; Nikhil | Slide 6 of 12</a:t>
            </a:r>
          </a:p>
        </p:txBody>
      </p:sp>
      <p:sp>
        <p:nvSpPr>
          <p:cNvPr id="5" name="TextBox 4"/>
          <p:cNvSpPr txBox="1"/>
          <p:nvPr/>
        </p:nvSpPr>
        <p:spPr>
          <a:xfrm>
            <a:off x="731520" y="1417320"/>
            <a:ext cx="10728655" cy="4754880"/>
          </a:xfrm>
          <a:prstGeom prst="rect">
            <a:avLst/>
          </a:prstGeom>
          <a:noFill/>
        </p:spPr>
        <p:txBody>
          <a:bodyPr wrap="square">
            <a:spAutoFit/>
          </a:bodyPr>
          <a:lstStyle/>
          <a:p>
            <a:pPr>
              <a:spcAft>
                <a:spcPts val="1400"/>
              </a:spcAft>
              <a:defRPr sz="1200" b="1">
                <a:solidFill>
                  <a:srgbClr val="1C5AA0"/>
                </a:solidFill>
                <a:latin typeface="Arial"/>
              </a:defRPr>
            </a:pPr>
            <a:r>
              <a:t>Citation: R. E. Tarjan, "Efficiency of a Good But Not Linear Set Union Algorithm", Journal of the ACM, Vol. 22, No. 2, pp. 215–225, April 1975.</a:t>
            </a:r>
          </a:p>
          <a:p>
            <a:pPr>
              <a:spcAft>
                <a:spcPts val="600"/>
              </a:spcAft>
              <a:defRPr sz="1500" b="1">
                <a:solidFill>
                  <a:srgbClr val="14233C"/>
                </a:solidFill>
                <a:latin typeface="Arial"/>
              </a:defRPr>
            </a:pPr>
            <a:r>
              <a:t>Analysis of Algorithmic Contents &amp; Contributions:</a:t>
            </a:r>
          </a:p>
          <a:p>
            <a:pPr>
              <a:spcAft>
                <a:spcPts val="400"/>
              </a:spcAft>
              <a:defRPr sz="1300">
                <a:solidFill>
                  <a:srgbClr val="323C4B"/>
                </a:solidFill>
                <a:latin typeface="Arial"/>
              </a:defRPr>
            </a:pPr>
            <a:r>
              <a:t>•  Analyzed the Disjoint-Set Union (DSU) data structure combining union-by-rank and path compression heuristics.</a:t>
            </a:r>
          </a:p>
          <a:p>
            <a:pPr>
              <a:spcAft>
                <a:spcPts val="400"/>
              </a:spcAft>
              <a:defRPr sz="1300">
                <a:solidFill>
                  <a:srgbClr val="323C4B"/>
                </a:solidFill>
                <a:latin typeface="Arial"/>
              </a:defRPr>
            </a:pPr>
            <a:r>
              <a:t>•  Proved the theoretical amortized operational complexity of O(m · alpha(m, n)), where alpha is the inverse Ackermann function (effectively &lt;= 4 for all practical values).</a:t>
            </a:r>
          </a:p>
          <a:p>
            <a:pPr>
              <a:spcAft>
                <a:spcPts val="400"/>
              </a:spcAft>
              <a:defRPr sz="1300">
                <a:solidFill>
                  <a:srgbClr val="323C4B"/>
                </a:solidFill>
                <a:latin typeface="Arial"/>
              </a:defRPr>
            </a:pPr>
            <a:r>
              <a:t>•  Widely utilized in EDA netlist parsing to group connected electrical pins into unified equipotential wire nets.</a:t>
            </a:r>
          </a:p>
          <a:p>
            <a:pPr>
              <a:spcAft>
                <a:spcPts val="600"/>
              </a:spcAft>
              <a:defRPr sz="1500" b="1">
                <a:solidFill>
                  <a:srgbClr val="A51E28"/>
                </a:solidFill>
                <a:latin typeface="Arial"/>
              </a:defRPr>
            </a:pPr>
            <a:r>
              <a:t>Critical Drawbacks &amp; Limitations for Circuit Simulation:</a:t>
            </a:r>
          </a:p>
          <a:p>
            <a:pPr>
              <a:spcAft>
                <a:spcPts val="600"/>
              </a:spcAft>
              <a:defRPr sz="1300" b="1">
                <a:solidFill>
                  <a:srgbClr val="323C4B"/>
                </a:solidFill>
                <a:latin typeface="Arial"/>
              </a:defRPr>
            </a:pPr>
            <a:r>
              <a:t>•  Symmetric / Undirected Equivalence Only: </a:t>
            </a:r>
            <a:r>
              <a:rPr b="0">
                <a:solidFill>
                  <a:srgbClr val="323C4B"/>
                </a:solidFill>
              </a:rPr>
              <a:t>DSU partitions vertices into undirected equivalence classes. It cannot enforce directional signal propagation (it cannot distinguish a driving gate output pin from driven load gate inputs).</a:t>
            </a:r>
          </a:p>
          <a:p>
            <a:pPr>
              <a:spcAft>
                <a:spcPts val="600"/>
              </a:spcAft>
              <a:defRPr sz="1300" b="1">
                <a:solidFill>
                  <a:srgbClr val="323C4B"/>
                </a:solidFill>
                <a:latin typeface="Arial"/>
              </a:defRPr>
            </a:pPr>
            <a:r>
              <a:t>•  Irreversible Union Operations: </a:t>
            </a:r>
            <a:r>
              <a:rPr b="0">
                <a:solidFill>
                  <a:srgbClr val="323C4B"/>
                </a:solidFill>
              </a:rPr>
              <a:t>Standard DSU does not support set splitting. If a user deletes a wire connection between two gates, the entire disjoint set forest must be rebuilt from scratch in O(E) time.</a:t>
            </a:r>
          </a:p>
          <a:p>
            <a:pPr>
              <a:spcAft>
                <a:spcPts val="600"/>
              </a:spcAft>
              <a:defRPr sz="1300" b="1">
                <a:solidFill>
                  <a:srgbClr val="323C4B"/>
                </a:solidFill>
                <a:latin typeface="Arial"/>
              </a:defRPr>
            </a:pPr>
            <a:r>
              <a:t>•  No Execution Ordering: </a:t>
            </a:r>
            <a:r>
              <a:rPr b="0">
                <a:solidFill>
                  <a:srgbClr val="323C4B"/>
                </a:solidFill>
              </a:rPr>
              <a:t>DSU tracks connectivity only; it provides zero capability for scheduling Boolean gate evaluations.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11480"/>
            <a:ext cx="10728655" cy="22860"/>
          </a:xfrm>
          <a:prstGeom prst="rect">
            <a:avLst/>
          </a:prstGeom>
          <a:solidFill>
            <a:srgbClr val="1C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spcAft>
                <a:spcPts val="200"/>
              </a:spcAft>
              <a:defRPr sz="1050" b="1">
                <a:solidFill>
                  <a:srgbClr val="1C5AA0"/>
                </a:solidFill>
                <a:latin typeface="Arial"/>
              </a:defRPr>
            </a:pPr>
            <a:r>
              <a:t>2. LITERATURE SURVEY</a:t>
            </a:r>
          </a:p>
          <a:p>
            <a:pPr>
              <a:defRPr sz="2200" b="1">
                <a:solidFill>
                  <a:srgbClr val="14233C"/>
                </a:solidFill>
                <a:latin typeface="Arial"/>
              </a:defRPr>
            </a:pPr>
            <a:r>
              <a:t>Comparative Evaluation: Surveyed Algorithms vs. Proposed Simulator</a:t>
            </a:r>
          </a:p>
        </p:txBody>
      </p:sp>
      <p:sp>
        <p:nvSpPr>
          <p:cNvPr id="4" name="TextBox 3"/>
          <p:cNvSpPr txBox="1"/>
          <p:nvPr/>
        </p:nvSpPr>
        <p:spPr>
          <a:xfrm>
            <a:off x="731520" y="6446520"/>
            <a:ext cx="10728655" cy="274320"/>
          </a:xfrm>
          <a:prstGeom prst="rect">
            <a:avLst/>
          </a:prstGeom>
          <a:noFill/>
        </p:spPr>
        <p:txBody>
          <a:bodyPr wrap="none" lIns="0" tIns="0" rIns="0" bIns="0">
            <a:spAutoFit/>
          </a:bodyPr>
          <a:lstStyle/>
          <a:p>
            <a:pPr>
              <a:defRPr sz="950">
                <a:solidFill>
                  <a:srgbClr val="697382"/>
                </a:solidFill>
                <a:latin typeface="Arial"/>
              </a:defRPr>
            </a:pPr>
            <a:r>
              <a:t>First Review (Oct 12, 2026) | Digital Logic Circuit Simulator | Markanda Meher &amp; Nikhil | Slide 7 of 12</a:t>
            </a:r>
          </a:p>
        </p:txBody>
      </p:sp>
      <p:graphicFrame>
        <p:nvGraphicFramePr>
          <p:cNvPr id="5" name="Table 4"/>
          <p:cNvGraphicFramePr>
            <a:graphicFrameLocks noGrp="1"/>
          </p:cNvGraphicFramePr>
          <p:nvPr/>
        </p:nvGraphicFramePr>
        <p:xfrm>
          <a:off x="731520" y="1463040"/>
          <a:ext cx="10728655" cy="4389120"/>
        </p:xfrm>
        <a:graphic>
          <a:graphicData uri="http://schemas.openxmlformats.org/drawingml/2006/table">
            <a:tbl>
              <a:tblPr firstRow="1" bandRow="1">
                <a:tableStyleId>{5C22544A-7EE6-4342-B048-85BDC9FD1C3A}</a:tableStyleId>
              </a:tblPr>
              <a:tblGrid>
                <a:gridCol w="2133295"/>
                <a:gridCol w="2148840"/>
                <a:gridCol w="2148840"/>
                <a:gridCol w="2148840"/>
                <a:gridCol w="2148840"/>
              </a:tblGrid>
              <a:tr h="731520">
                <a:tc>
                  <a:txBody>
                    <a:bodyPr wrap="square"/>
                    <a:lstStyle/>
                    <a:p>
                      <a:pPr algn="ctr">
                        <a:defRPr b="1" sz="1200">
                          <a:solidFill>
                            <a:srgbClr val="FFFFFF"/>
                          </a:solidFill>
                        </a:defRPr>
                      </a:pPr>
                      <a:r>
                        <a:t>Evaluation Metric</a:t>
                      </a:r>
                    </a:p>
                  </a:txBody>
                  <a:tcPr>
                    <a:solidFill>
                      <a:srgbClr val="14233C"/>
                    </a:solidFill>
                  </a:tcPr>
                </a:tc>
                <a:tc>
                  <a:txBody>
                    <a:bodyPr wrap="square"/>
                    <a:lstStyle/>
                    <a:p>
                      <a:pPr algn="ctr">
                        <a:defRPr b="1" sz="1200">
                          <a:solidFill>
                            <a:srgbClr val="FFFFFF"/>
                          </a:solidFill>
                        </a:defRPr>
                      </a:pPr>
                      <a:r>
                        <a:t>Kahn (1962)</a:t>
                      </a:r>
                    </a:p>
                  </a:txBody>
                  <a:tcPr>
                    <a:solidFill>
                      <a:srgbClr val="14233C"/>
                    </a:solidFill>
                  </a:tcPr>
                </a:tc>
                <a:tc>
                  <a:txBody>
                    <a:bodyPr wrap="square"/>
                    <a:lstStyle/>
                    <a:p>
                      <a:pPr algn="ctr">
                        <a:defRPr b="1" sz="1200">
                          <a:solidFill>
                            <a:srgbClr val="FFFFFF"/>
                          </a:solidFill>
                        </a:defRPr>
                      </a:pPr>
                      <a:r>
                        <a:t>Tarjan DFS (1972)</a:t>
                      </a:r>
                    </a:p>
                  </a:txBody>
                  <a:tcPr>
                    <a:solidFill>
                      <a:srgbClr val="14233C"/>
                    </a:solidFill>
                  </a:tcPr>
                </a:tc>
                <a:tc>
                  <a:txBody>
                    <a:bodyPr wrap="square"/>
                    <a:lstStyle/>
                    <a:p>
                      <a:pPr algn="ctr">
                        <a:defRPr b="1" sz="1200">
                          <a:solidFill>
                            <a:srgbClr val="FFFFFF"/>
                          </a:solidFill>
                        </a:defRPr>
                      </a:pPr>
                      <a:r>
                        <a:t>Tarjan DSU (1975)</a:t>
                      </a:r>
                    </a:p>
                  </a:txBody>
                  <a:tcPr>
                    <a:solidFill>
                      <a:srgbClr val="14233C"/>
                    </a:solidFill>
                  </a:tcPr>
                </a:tc>
                <a:tc>
                  <a:txBody>
                    <a:bodyPr wrap="square"/>
                    <a:lstStyle/>
                    <a:p>
                      <a:pPr algn="ctr">
                        <a:defRPr b="1" sz="1200">
                          <a:solidFill>
                            <a:srgbClr val="FFFFFF"/>
                          </a:solidFill>
                        </a:defRPr>
                      </a:pPr>
                      <a:r>
                        <a:t>Our Simulator</a:t>
                      </a:r>
                    </a:p>
                  </a:txBody>
                  <a:tcPr>
                    <a:solidFill>
                      <a:srgbClr val="1C5AA0"/>
                    </a:solidFill>
                  </a:tcPr>
                </a:tc>
              </a:tr>
              <a:tr h="731520">
                <a:tc>
                  <a:txBody>
                    <a:bodyPr wrap="square"/>
                    <a:lstStyle/>
                    <a:p>
                      <a:pPr algn="l">
                        <a:defRPr sz="1100" b="1">
                          <a:solidFill>
                            <a:srgbClr val="323C4B"/>
                          </a:solidFill>
                        </a:defRPr>
                      </a:pPr>
                      <a:r>
                        <a:t>Primary Algorithmic Purpose</a:t>
                      </a:r>
                    </a:p>
                  </a:txBody>
                  <a:tcPr>
                    <a:solidFill>
                      <a:srgbClr val="FFFFFF"/>
                    </a:solidFill>
                  </a:tcPr>
                </a:tc>
                <a:tc>
                  <a:txBody>
                    <a:bodyPr wrap="square"/>
                    <a:lstStyle/>
                    <a:p>
                      <a:pPr algn="ctr">
                        <a:defRPr sz="1100" b="0">
                          <a:solidFill>
                            <a:srgbClr val="323C4B"/>
                          </a:solidFill>
                        </a:defRPr>
                      </a:pPr>
                      <a:r>
                        <a:t>Topological Ordering via In-Degree Queue</a:t>
                      </a:r>
                    </a:p>
                  </a:txBody>
                  <a:tcPr>
                    <a:solidFill>
                      <a:srgbClr val="FFFFFF"/>
                    </a:solidFill>
                  </a:tcPr>
                </a:tc>
                <a:tc>
                  <a:txBody>
                    <a:bodyPr wrap="square"/>
                    <a:lstStyle/>
                    <a:p>
                      <a:pPr algn="ctr">
                        <a:defRPr sz="1100" b="0">
                          <a:solidFill>
                            <a:srgbClr val="323C4B"/>
                          </a:solidFill>
                        </a:defRPr>
                      </a:pPr>
                      <a:r>
                        <a:t>Graph Traversal &amp; SCC Decomposition</a:t>
                      </a:r>
                    </a:p>
                  </a:txBody>
                  <a:tcPr>
                    <a:solidFill>
                      <a:srgbClr val="FFFFFF"/>
                    </a:solidFill>
                  </a:tcPr>
                </a:tc>
                <a:tc>
                  <a:txBody>
                    <a:bodyPr wrap="square"/>
                    <a:lstStyle/>
                    <a:p>
                      <a:pPr algn="ctr">
                        <a:defRPr sz="1100" b="0">
                          <a:solidFill>
                            <a:srgbClr val="323C4B"/>
                          </a:solidFill>
                        </a:defRPr>
                      </a:pPr>
                      <a:r>
                        <a:t>Disjoint-Set Net Connectivity</a:t>
                      </a:r>
                    </a:p>
                  </a:txBody>
                  <a:tcPr>
                    <a:solidFill>
                      <a:srgbClr val="FFFFFF"/>
                    </a:solidFill>
                  </a:tcPr>
                </a:tc>
                <a:tc>
                  <a:txBody>
                    <a:bodyPr wrap="square"/>
                    <a:lstStyle/>
                    <a:p>
                      <a:pPr algn="ctr">
                        <a:defRPr sz="1100" b="1">
                          <a:solidFill>
                            <a:srgbClr val="14233C"/>
                          </a:solidFill>
                        </a:defRPr>
                      </a:pPr>
                      <a:r>
                        <a:t>End-to-End Logic Simulation &amp; Verification</a:t>
                      </a:r>
                    </a:p>
                  </a:txBody>
                  <a:tcPr>
                    <a:solidFill>
                      <a:srgbClr val="F5F8FC"/>
                    </a:solidFill>
                  </a:tcPr>
                </a:tc>
              </a:tr>
              <a:tr h="731520">
                <a:tc>
                  <a:txBody>
                    <a:bodyPr wrap="square"/>
                    <a:lstStyle/>
                    <a:p>
                      <a:pPr algn="l">
                        <a:defRPr sz="1100" b="1">
                          <a:solidFill>
                            <a:srgbClr val="323C4B"/>
                          </a:solidFill>
                        </a:defRPr>
                      </a:pPr>
                      <a:r>
                        <a:t>Time Complexity</a:t>
                      </a:r>
                    </a:p>
                  </a:txBody>
                  <a:tcPr>
                    <a:solidFill>
                      <a:srgbClr val="F8FAFC"/>
                    </a:solidFill>
                  </a:tcPr>
                </a:tc>
                <a:tc>
                  <a:txBody>
                    <a:bodyPr wrap="square"/>
                    <a:lstStyle/>
                    <a:p>
                      <a:pPr algn="ctr">
                        <a:defRPr sz="1100" b="0">
                          <a:solidFill>
                            <a:srgbClr val="323C4B"/>
                          </a:solidFill>
                        </a:defRPr>
                      </a:pPr>
                      <a:r>
                        <a:t>O(V + E) linear</a:t>
                      </a:r>
                    </a:p>
                  </a:txBody>
                  <a:tcPr>
                    <a:solidFill>
                      <a:srgbClr val="F8FAFC"/>
                    </a:solidFill>
                  </a:tcPr>
                </a:tc>
                <a:tc>
                  <a:txBody>
                    <a:bodyPr wrap="square"/>
                    <a:lstStyle/>
                    <a:p>
                      <a:pPr algn="ctr">
                        <a:defRPr sz="1100" b="0">
                          <a:solidFill>
                            <a:srgbClr val="323C4B"/>
                          </a:solidFill>
                        </a:defRPr>
                      </a:pPr>
                      <a:r>
                        <a:t>O(V + E) linear</a:t>
                      </a:r>
                    </a:p>
                  </a:txBody>
                  <a:tcPr>
                    <a:solidFill>
                      <a:srgbClr val="F8FAFC"/>
                    </a:solidFill>
                  </a:tcPr>
                </a:tc>
                <a:tc>
                  <a:txBody>
                    <a:bodyPr wrap="square"/>
                    <a:lstStyle/>
                    <a:p>
                      <a:pPr algn="ctr">
                        <a:defRPr sz="1100" b="0">
                          <a:solidFill>
                            <a:srgbClr val="323C4B"/>
                          </a:solidFill>
                        </a:defRPr>
                      </a:pPr>
                      <a:r>
                        <a:t>O(m · α(n)) near-linear</a:t>
                      </a:r>
                    </a:p>
                  </a:txBody>
                  <a:tcPr>
                    <a:solidFill>
                      <a:srgbClr val="F8FAFC"/>
                    </a:solidFill>
                  </a:tcPr>
                </a:tc>
                <a:tc>
                  <a:txBody>
                    <a:bodyPr wrap="square"/>
                    <a:lstStyle/>
                    <a:p>
                      <a:pPr algn="ctr">
                        <a:defRPr sz="1100" b="1">
                          <a:solidFill>
                            <a:srgbClr val="14233C"/>
                          </a:solidFill>
                        </a:defRPr>
                      </a:pPr>
                      <a:r>
                        <a:t>O(V + E) linear</a:t>
                      </a:r>
                    </a:p>
                  </a:txBody>
                  <a:tcPr>
                    <a:solidFill>
                      <a:srgbClr val="F5F8FC"/>
                    </a:solidFill>
                  </a:tcPr>
                </a:tc>
              </a:tr>
              <a:tr h="731520">
                <a:tc>
                  <a:txBody>
                    <a:bodyPr wrap="square"/>
                    <a:lstStyle/>
                    <a:p>
                      <a:pPr algn="l">
                        <a:defRPr sz="1100" b="1">
                          <a:solidFill>
                            <a:srgbClr val="323C4B"/>
                          </a:solidFill>
                        </a:defRPr>
                      </a:pPr>
                      <a:r>
                        <a:t>Cycle Localization</a:t>
                      </a:r>
                    </a:p>
                  </a:txBody>
                  <a:tcPr>
                    <a:solidFill>
                      <a:srgbClr val="FFFFFF"/>
                    </a:solidFill>
                  </a:tcPr>
                </a:tc>
                <a:tc>
                  <a:txBody>
                    <a:bodyPr wrap="square"/>
                    <a:lstStyle/>
                    <a:p>
                      <a:pPr algn="ctr">
                        <a:defRPr sz="1100" b="0">
                          <a:solidFill>
                            <a:srgbClr val="323C4B"/>
                          </a:solidFill>
                        </a:defRPr>
                      </a:pPr>
                      <a:r>
                        <a:t>No (halts silently when queue empties)</a:t>
                      </a:r>
                    </a:p>
                  </a:txBody>
                  <a:tcPr>
                    <a:solidFill>
                      <a:srgbClr val="FFFFFF"/>
                    </a:solidFill>
                  </a:tcPr>
                </a:tc>
                <a:tc>
                  <a:txBody>
                    <a:bodyPr wrap="square"/>
                    <a:lstStyle/>
                    <a:p>
                      <a:pPr algn="ctr">
                        <a:defRPr sz="1100" b="0">
                          <a:solidFill>
                            <a:srgbClr val="323C4B"/>
                          </a:solidFill>
                        </a:defRPr>
                      </a:pPr>
                      <a:r>
                        <a:t>Yes (detects back-edges)</a:t>
                      </a:r>
                    </a:p>
                  </a:txBody>
                  <a:tcPr>
                    <a:solidFill>
                      <a:srgbClr val="FFFFFF"/>
                    </a:solidFill>
                  </a:tcPr>
                </a:tc>
                <a:tc>
                  <a:txBody>
                    <a:bodyPr wrap="square"/>
                    <a:lstStyle/>
                    <a:p>
                      <a:pPr algn="ctr">
                        <a:defRPr sz="1100" b="0">
                          <a:solidFill>
                            <a:srgbClr val="323C4B"/>
                          </a:solidFill>
                        </a:defRPr>
                      </a:pPr>
                      <a:r>
                        <a:t>N/A (undirected sets)</a:t>
                      </a:r>
                    </a:p>
                  </a:txBody>
                  <a:tcPr>
                    <a:solidFill>
                      <a:srgbClr val="FFFFFF"/>
                    </a:solidFill>
                  </a:tcPr>
                </a:tc>
                <a:tc>
                  <a:txBody>
                    <a:bodyPr wrap="square"/>
                    <a:lstStyle/>
                    <a:p>
                      <a:pPr algn="ctr">
                        <a:defRPr sz="1100" b="1">
                          <a:solidFill>
                            <a:srgbClr val="14233C"/>
                          </a:solidFill>
                        </a:defRPr>
                      </a:pPr>
                      <a:r>
                        <a:t>Yes (isolates &amp; logs exact cycle path)</a:t>
                      </a:r>
                    </a:p>
                  </a:txBody>
                  <a:tcPr>
                    <a:solidFill>
                      <a:srgbClr val="F5F8FC"/>
                    </a:solidFill>
                  </a:tcPr>
                </a:tc>
              </a:tr>
              <a:tr h="731520">
                <a:tc>
                  <a:txBody>
                    <a:bodyPr wrap="square"/>
                    <a:lstStyle/>
                    <a:p>
                      <a:pPr algn="l">
                        <a:defRPr sz="1100" b="1">
                          <a:solidFill>
                            <a:srgbClr val="323C4B"/>
                          </a:solidFill>
                        </a:defRPr>
                      </a:pPr>
                      <a:r>
                        <a:t>Execution Scheduling</a:t>
                      </a:r>
                    </a:p>
                  </a:txBody>
                  <a:tcPr>
                    <a:solidFill>
                      <a:srgbClr val="F8FAFC"/>
                    </a:solidFill>
                  </a:tcPr>
                </a:tc>
                <a:tc>
                  <a:txBody>
                    <a:bodyPr wrap="square"/>
                    <a:lstStyle/>
                    <a:p>
                      <a:pPr algn="ctr">
                        <a:defRPr sz="1100" b="0">
                          <a:solidFill>
                            <a:srgbClr val="323C4B"/>
                          </a:solidFill>
                        </a:defRPr>
                      </a:pPr>
                      <a:r>
                        <a:t>Yes (valid linear topological order)</a:t>
                      </a:r>
                    </a:p>
                  </a:txBody>
                  <a:tcPr>
                    <a:solidFill>
                      <a:srgbClr val="F8FAFC"/>
                    </a:solidFill>
                  </a:tcPr>
                </a:tc>
                <a:tc>
                  <a:txBody>
                    <a:bodyPr wrap="square"/>
                    <a:lstStyle/>
                    <a:p>
                      <a:pPr algn="ctr">
                        <a:defRPr sz="1100" b="0">
                          <a:solidFill>
                            <a:srgbClr val="323C4B"/>
                          </a:solidFill>
                        </a:defRPr>
                      </a:pPr>
                      <a:r>
                        <a:t>Requires reverse post-order traversal</a:t>
                      </a:r>
                    </a:p>
                  </a:txBody>
                  <a:tcPr>
                    <a:solidFill>
                      <a:srgbClr val="F8FAFC"/>
                    </a:solidFill>
                  </a:tcPr>
                </a:tc>
                <a:tc>
                  <a:txBody>
                    <a:bodyPr wrap="square"/>
                    <a:lstStyle/>
                    <a:p>
                      <a:pPr algn="ctr">
                        <a:defRPr sz="1100" b="0">
                          <a:solidFill>
                            <a:srgbClr val="323C4B"/>
                          </a:solidFill>
                        </a:defRPr>
                      </a:pPr>
                      <a:r>
                        <a:t>No (tracks connectivity only)</a:t>
                      </a:r>
                    </a:p>
                  </a:txBody>
                  <a:tcPr>
                    <a:solidFill>
                      <a:srgbClr val="F8FAFC"/>
                    </a:solidFill>
                  </a:tcPr>
                </a:tc>
                <a:tc>
                  <a:txBody>
                    <a:bodyPr wrap="square"/>
                    <a:lstStyle/>
                    <a:p>
                      <a:pPr algn="ctr">
                        <a:defRPr sz="1100" b="1">
                          <a:solidFill>
                            <a:srgbClr val="14233C"/>
                          </a:solidFill>
                        </a:defRPr>
                      </a:pPr>
                      <a:r>
                        <a:t>Yes (guaranteed race-free evaluation)</a:t>
                      </a:r>
                    </a:p>
                  </a:txBody>
                  <a:tcPr>
                    <a:solidFill>
                      <a:srgbClr val="F5F8FC"/>
                    </a:solidFill>
                  </a:tcPr>
                </a:tc>
              </a:tr>
              <a:tr h="731520">
                <a:tc>
                  <a:txBody>
                    <a:bodyPr wrap="square"/>
                    <a:lstStyle/>
                    <a:p>
                      <a:pPr algn="l">
                        <a:defRPr sz="1100" b="1">
                          <a:solidFill>
                            <a:srgbClr val="323C4B"/>
                          </a:solidFill>
                        </a:defRPr>
                      </a:pPr>
                      <a:r>
                        <a:t>Directional Flow &amp; Logic Eval</a:t>
                      </a:r>
                    </a:p>
                  </a:txBody>
                  <a:tcPr>
                    <a:solidFill>
                      <a:srgbClr val="FFFFFF"/>
                    </a:solidFill>
                  </a:tcPr>
                </a:tc>
                <a:tc>
                  <a:txBody>
                    <a:bodyPr wrap="square"/>
                    <a:lstStyle/>
                    <a:p>
                      <a:pPr algn="ctr">
                        <a:defRPr sz="1100" b="0">
                          <a:solidFill>
                            <a:srgbClr val="323C4B"/>
                          </a:solidFill>
                        </a:defRPr>
                      </a:pPr>
                      <a:r>
                        <a:t>Directional only (no logic evaluation)</a:t>
                      </a:r>
                    </a:p>
                  </a:txBody>
                  <a:tcPr>
                    <a:solidFill>
                      <a:srgbClr val="FFFFFF"/>
                    </a:solidFill>
                  </a:tcPr>
                </a:tc>
                <a:tc>
                  <a:txBody>
                    <a:bodyPr wrap="square"/>
                    <a:lstStyle/>
                    <a:p>
                      <a:pPr algn="ctr">
                        <a:defRPr sz="1100" b="0">
                          <a:solidFill>
                            <a:srgbClr val="323C4B"/>
                          </a:solidFill>
                        </a:defRPr>
                      </a:pPr>
                      <a:r>
                        <a:t>Directional only (no logic evaluation)</a:t>
                      </a:r>
                    </a:p>
                  </a:txBody>
                  <a:tcPr>
                    <a:solidFill>
                      <a:srgbClr val="FFFFFF"/>
                    </a:solidFill>
                  </a:tcPr>
                </a:tc>
                <a:tc>
                  <a:txBody>
                    <a:bodyPr wrap="square"/>
                    <a:lstStyle/>
                    <a:p>
                      <a:pPr algn="ctr">
                        <a:defRPr sz="1100" b="0">
                          <a:solidFill>
                            <a:srgbClr val="323C4B"/>
                          </a:solidFill>
                        </a:defRPr>
                      </a:pPr>
                      <a:r>
                        <a:t>Undirected only (no signal direction)</a:t>
                      </a:r>
                    </a:p>
                  </a:txBody>
                  <a:tcPr>
                    <a:solidFill>
                      <a:srgbClr val="FFFFFF"/>
                    </a:solidFill>
                  </a:tcPr>
                </a:tc>
                <a:tc>
                  <a:txBody>
                    <a:bodyPr wrap="square"/>
                    <a:lstStyle/>
                    <a:p>
                      <a:pPr algn="ctr">
                        <a:defRPr sz="1100" b="1">
                          <a:solidFill>
                            <a:srgbClr val="14233C"/>
                          </a:solidFill>
                        </a:defRPr>
                      </a:pPr>
                      <a:r>
                        <a:t>Directional + Multi-gate Boolean truth tables</a:t>
                      </a:r>
                    </a:p>
                  </a:txBody>
                  <a:tcPr>
                    <a:solidFill>
                      <a:srgbClr val="F5F8FC"/>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11480"/>
            <a:ext cx="10728655" cy="22860"/>
          </a:xfrm>
          <a:prstGeom prst="rect">
            <a:avLst/>
          </a:prstGeom>
          <a:solidFill>
            <a:srgbClr val="1C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spcAft>
                <a:spcPts val="200"/>
              </a:spcAft>
              <a:defRPr sz="1050" b="1">
                <a:solidFill>
                  <a:srgbClr val="1C5AA0"/>
                </a:solidFill>
                <a:latin typeface="Arial"/>
              </a:defRPr>
            </a:pPr>
            <a:r>
              <a:t>3. SYSTEM ARCHITECTURE</a:t>
            </a:r>
          </a:p>
          <a:p>
            <a:pPr>
              <a:defRPr sz="2200" b="1">
                <a:solidFill>
                  <a:srgbClr val="14233C"/>
                </a:solidFill>
                <a:latin typeface="Arial"/>
              </a:defRPr>
            </a:pPr>
            <a:r>
              <a:t>4-Stage Simulation Architecture &amp; Dataflow Pipeline</a:t>
            </a:r>
          </a:p>
        </p:txBody>
      </p:sp>
      <p:sp>
        <p:nvSpPr>
          <p:cNvPr id="4" name="TextBox 3"/>
          <p:cNvSpPr txBox="1"/>
          <p:nvPr/>
        </p:nvSpPr>
        <p:spPr>
          <a:xfrm>
            <a:off x="731520" y="6446520"/>
            <a:ext cx="10728655" cy="274320"/>
          </a:xfrm>
          <a:prstGeom prst="rect">
            <a:avLst/>
          </a:prstGeom>
          <a:noFill/>
        </p:spPr>
        <p:txBody>
          <a:bodyPr wrap="none" lIns="0" tIns="0" rIns="0" bIns="0">
            <a:spAutoFit/>
          </a:bodyPr>
          <a:lstStyle/>
          <a:p>
            <a:pPr>
              <a:defRPr sz="950">
                <a:solidFill>
                  <a:srgbClr val="697382"/>
                </a:solidFill>
                <a:latin typeface="Arial"/>
              </a:defRPr>
            </a:pPr>
            <a:r>
              <a:t>First Review (Oct 12, 2026) | Digital Logic Circuit Simulator | Markanda Meher &amp; Nikhil | Slide 8 of 12</a:t>
            </a:r>
          </a:p>
        </p:txBody>
      </p:sp>
      <p:sp>
        <p:nvSpPr>
          <p:cNvPr id="5" name="Rectangle 4"/>
          <p:cNvSpPr/>
          <p:nvPr/>
        </p:nvSpPr>
        <p:spPr>
          <a:xfrm>
            <a:off x="731520" y="1645920"/>
            <a:ext cx="2499055" cy="2011680"/>
          </a:xfrm>
          <a:prstGeom prst="rect">
            <a:avLst/>
          </a:prstGeom>
          <a:solidFill>
            <a:srgbClr val="F8FAFC"/>
          </a:solidFill>
          <a:ln w="19050">
            <a:solidFill>
              <a:srgbClr val="1C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37360"/>
            <a:ext cx="2316175" cy="1828800"/>
          </a:xfrm>
          <a:prstGeom prst="rect">
            <a:avLst/>
          </a:prstGeom>
          <a:noFill/>
        </p:spPr>
        <p:txBody>
          <a:bodyPr wrap="square">
            <a:spAutoFit/>
          </a:bodyPr>
          <a:lstStyle/>
          <a:p>
            <a:pPr algn="ctr">
              <a:spcAft>
                <a:spcPts val="800"/>
              </a:spcAft>
              <a:defRPr sz="1200" b="1">
                <a:solidFill>
                  <a:srgbClr val="14233C"/>
                </a:solidFill>
              </a:defRPr>
            </a:pPr>
            <a:r>
              <a:t>Stage 1: Netlist &amp; Graph Model</a:t>
            </a:r>
          </a:p>
          <a:p>
            <a:pPr algn="ctr">
              <a:defRPr sz="1050">
                <a:solidFill>
                  <a:srgbClr val="323C4B"/>
                </a:solidFill>
              </a:defRPr>
            </a:pPr>
            <a:r>
              <a:t>Builds Directed Graph G=(V,E)</a:t>
            </a:r>
            <a:br/>
            <a:r>
              <a:t>Adjacency List &amp; In-Degrees</a:t>
            </a:r>
            <a:br/>
            <a:r>
              <a:t>O(1) Hash Map Gate Indexing</a:t>
            </a:r>
          </a:p>
        </p:txBody>
      </p:sp>
      <p:sp>
        <p:nvSpPr>
          <p:cNvPr id="7" name="Rectangle 6"/>
          <p:cNvSpPr/>
          <p:nvPr/>
        </p:nvSpPr>
        <p:spPr>
          <a:xfrm>
            <a:off x="3474720" y="1645920"/>
            <a:ext cx="2499055" cy="2011680"/>
          </a:xfrm>
          <a:prstGeom prst="rect">
            <a:avLst/>
          </a:prstGeom>
          <a:solidFill>
            <a:srgbClr val="F8FAFC"/>
          </a:solidFill>
          <a:ln w="19050">
            <a:solidFill>
              <a:srgbClr val="1C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6160" y="1737360"/>
            <a:ext cx="2316175" cy="1828800"/>
          </a:xfrm>
          <a:prstGeom prst="rect">
            <a:avLst/>
          </a:prstGeom>
          <a:noFill/>
        </p:spPr>
        <p:txBody>
          <a:bodyPr wrap="square">
            <a:spAutoFit/>
          </a:bodyPr>
          <a:lstStyle/>
          <a:p>
            <a:pPr algn="ctr">
              <a:spcAft>
                <a:spcPts val="800"/>
              </a:spcAft>
              <a:defRPr sz="1200" b="1">
                <a:solidFill>
                  <a:srgbClr val="14233C"/>
                </a:solidFill>
              </a:defRPr>
            </a:pPr>
            <a:r>
              <a:t>Stage 2: Cycle Detection Engine</a:t>
            </a:r>
          </a:p>
          <a:p>
            <a:pPr algn="ctr">
              <a:defRPr sz="1050">
                <a:solidFill>
                  <a:srgbClr val="323C4B"/>
                </a:solidFill>
              </a:defRPr>
            </a:pPr>
            <a:r>
              <a:t>Tarjan's 3-Color DFS</a:t>
            </a:r>
            <a:br/>
            <a:r>
              <a:t>White/Gray/Black State Machine</a:t>
            </a:r>
            <a:br/>
            <a:r>
              <a:t>Traps &amp; Isolates Back-Edges</a:t>
            </a:r>
          </a:p>
        </p:txBody>
      </p:sp>
      <p:sp>
        <p:nvSpPr>
          <p:cNvPr id="9" name="Rectangle 8"/>
          <p:cNvSpPr/>
          <p:nvPr/>
        </p:nvSpPr>
        <p:spPr>
          <a:xfrm>
            <a:off x="6217920" y="1645920"/>
            <a:ext cx="2499055" cy="2011680"/>
          </a:xfrm>
          <a:prstGeom prst="rect">
            <a:avLst/>
          </a:prstGeom>
          <a:solidFill>
            <a:srgbClr val="F8FAFC"/>
          </a:solidFill>
          <a:ln w="19050">
            <a:solidFill>
              <a:srgbClr val="1C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737360"/>
            <a:ext cx="2316175" cy="1828800"/>
          </a:xfrm>
          <a:prstGeom prst="rect">
            <a:avLst/>
          </a:prstGeom>
          <a:noFill/>
        </p:spPr>
        <p:txBody>
          <a:bodyPr wrap="square">
            <a:spAutoFit/>
          </a:bodyPr>
          <a:lstStyle/>
          <a:p>
            <a:pPr algn="ctr">
              <a:spcAft>
                <a:spcPts val="800"/>
              </a:spcAft>
              <a:defRPr sz="1200" b="1">
                <a:solidFill>
                  <a:srgbClr val="14233C"/>
                </a:solidFill>
              </a:defRPr>
            </a:pPr>
            <a:r>
              <a:t>Stage 3: Topological Scheduler</a:t>
            </a:r>
          </a:p>
          <a:p>
            <a:pPr algn="ctr">
              <a:defRPr sz="1050">
                <a:solidFill>
                  <a:srgbClr val="323C4B"/>
                </a:solidFill>
              </a:defRPr>
            </a:pPr>
            <a:r>
              <a:t>Kahn's In-Degree Queue BFS</a:t>
            </a:r>
            <a:br/>
            <a:r>
              <a:t>Resolves Data Dependencies</a:t>
            </a:r>
            <a:br/>
            <a:r>
              <a:t>Produces Linear Order Array</a:t>
            </a:r>
          </a:p>
        </p:txBody>
      </p:sp>
      <p:sp>
        <p:nvSpPr>
          <p:cNvPr id="11" name="Rectangle 10"/>
          <p:cNvSpPr/>
          <p:nvPr/>
        </p:nvSpPr>
        <p:spPr>
          <a:xfrm>
            <a:off x="8961120" y="1645920"/>
            <a:ext cx="2499055" cy="2011680"/>
          </a:xfrm>
          <a:prstGeom prst="rect">
            <a:avLst/>
          </a:prstGeom>
          <a:solidFill>
            <a:srgbClr val="F8FAFC"/>
          </a:solidFill>
          <a:ln w="19050">
            <a:solidFill>
              <a:srgbClr val="1C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0" y="1737360"/>
            <a:ext cx="2316175" cy="1828800"/>
          </a:xfrm>
          <a:prstGeom prst="rect">
            <a:avLst/>
          </a:prstGeom>
          <a:noFill/>
        </p:spPr>
        <p:txBody>
          <a:bodyPr wrap="square">
            <a:spAutoFit/>
          </a:bodyPr>
          <a:lstStyle/>
          <a:p>
            <a:pPr algn="ctr">
              <a:spcAft>
                <a:spcPts val="800"/>
              </a:spcAft>
              <a:defRPr sz="1200" b="1">
                <a:solidFill>
                  <a:srgbClr val="14233C"/>
                </a:solidFill>
              </a:defRPr>
            </a:pPr>
            <a:r>
              <a:t>Stage 4: Execution &amp; Verification</a:t>
            </a:r>
          </a:p>
          <a:p>
            <a:pPr algn="ctr">
              <a:defRPr sz="1050">
                <a:solidFill>
                  <a:srgbClr val="323C4B"/>
                </a:solidFill>
              </a:defRPr>
            </a:pPr>
            <a:r>
              <a:t>Boolean Gate Switch Engine</a:t>
            </a:r>
            <a:br/>
            <a:r>
              <a:t>Level-by-Level Signal Propagation</a:t>
            </a:r>
            <a:br/>
            <a:r>
              <a:t>Exhaustive 2^N Truth Table</a:t>
            </a:r>
          </a:p>
        </p:txBody>
      </p:sp>
      <p:sp>
        <p:nvSpPr>
          <p:cNvPr id="13" name="Right Arrow 12"/>
          <p:cNvSpPr/>
          <p:nvPr/>
        </p:nvSpPr>
        <p:spPr>
          <a:xfrm>
            <a:off x="3246120" y="2468880"/>
            <a:ext cx="210312" cy="365760"/>
          </a:xfrm>
          <a:prstGeom prst="rightArrow">
            <a:avLst/>
          </a:prstGeom>
          <a:solidFill>
            <a:srgbClr val="1C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5989320" y="2468880"/>
            <a:ext cx="210312" cy="365760"/>
          </a:xfrm>
          <a:prstGeom prst="rightArrow">
            <a:avLst/>
          </a:prstGeom>
          <a:solidFill>
            <a:srgbClr val="1C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Arrow 14"/>
          <p:cNvSpPr/>
          <p:nvPr/>
        </p:nvSpPr>
        <p:spPr>
          <a:xfrm>
            <a:off x="8732520" y="2468880"/>
            <a:ext cx="210312" cy="365760"/>
          </a:xfrm>
          <a:prstGeom prst="rightArrow">
            <a:avLst/>
          </a:prstGeom>
          <a:solidFill>
            <a:srgbClr val="1C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931920"/>
            <a:ext cx="10728655" cy="2286000"/>
          </a:xfrm>
          <a:prstGeom prst="rect">
            <a:avLst/>
          </a:prstGeom>
          <a:noFill/>
        </p:spPr>
        <p:txBody>
          <a:bodyPr wrap="square">
            <a:spAutoFit/>
          </a:bodyPr>
          <a:lstStyle/>
          <a:p>
            <a:pPr>
              <a:spcAft>
                <a:spcPts val="600"/>
              </a:spcAft>
              <a:defRPr sz="1400" b="1">
                <a:solidFill>
                  <a:srgbClr val="14233C"/>
                </a:solidFill>
                <a:latin typeface="Arial"/>
              </a:defRPr>
            </a:pPr>
            <a:r>
              <a:t>Pipeline Invariants &amp; Execution Flow:</a:t>
            </a:r>
          </a:p>
          <a:p>
            <a:pPr>
              <a:spcAft>
                <a:spcPts val="400"/>
              </a:spcAft>
              <a:defRPr sz="1150" b="1">
                <a:solidFill>
                  <a:srgbClr val="323C4B"/>
                </a:solidFill>
                <a:latin typeface="Arial"/>
              </a:defRPr>
            </a:pPr>
            <a:r>
              <a:t>• Invariant 1 (Strict Pre-Simulation Validation): </a:t>
            </a:r>
            <a:r>
              <a:rPr b="0">
                <a:solidFill>
                  <a:srgbClr val="323C4B"/>
                </a:solidFill>
              </a:rPr>
              <a:t>Execution is strictly blocked if Stage 2 detects a cycle. Feedback loops are halted with the exact back-edge reported, preventing infinite simulation loops.</a:t>
            </a:r>
          </a:p>
          <a:p>
            <a:pPr>
              <a:spcAft>
                <a:spcPts val="400"/>
              </a:spcAft>
              <a:defRPr sz="1150" b="1">
                <a:solidFill>
                  <a:srgbClr val="323C4B"/>
                </a:solidFill>
                <a:latin typeface="Arial"/>
              </a:defRPr>
            </a:pPr>
            <a:r>
              <a:t>• Invariant 2 (Dependency Resolution Invariance): </a:t>
            </a:r>
            <a:r>
              <a:rPr b="0">
                <a:solidFill>
                  <a:srgbClr val="323C4B"/>
                </a:solidFill>
              </a:rPr>
              <a:t>Stage 3 guarantees that every gate in the execution array appears strictly after all its predecessor driver gates, eliminating race conditions in O(V + E) time.</a:t>
            </a:r>
          </a:p>
          <a:p>
            <a:pPr>
              <a:spcAft>
                <a:spcPts val="400"/>
              </a:spcAft>
              <a:defRPr sz="1150" b="1">
                <a:solidFill>
                  <a:srgbClr val="323C4B"/>
                </a:solidFill>
                <a:latin typeface="Arial"/>
              </a:defRPr>
            </a:pPr>
            <a:r>
              <a:t>• Invariant 3 (Exhaustive Verification): </a:t>
            </a:r>
            <a:r>
              <a:rPr b="0">
                <a:solidFill>
                  <a:srgbClr val="323C4B"/>
                </a:solidFill>
              </a:rPr>
              <a:t>Stage 4 iterates across all 2^N input permutations, executing the circuit topologically and validating correctness against standard truth tables.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11480"/>
            <a:ext cx="10728655" cy="22860"/>
          </a:xfrm>
          <a:prstGeom prst="rect">
            <a:avLst/>
          </a:prstGeom>
          <a:solidFill>
            <a:srgbClr val="1C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spcAft>
                <a:spcPts val="200"/>
              </a:spcAft>
              <a:defRPr sz="1050" b="1">
                <a:solidFill>
                  <a:srgbClr val="1C5AA0"/>
                </a:solidFill>
                <a:latin typeface="Arial"/>
              </a:defRPr>
            </a:pPr>
            <a:r>
              <a:t>3. ALGORITHMIC NOVELTY</a:t>
            </a:r>
          </a:p>
          <a:p>
            <a:pPr>
              <a:defRPr sz="2200" b="1">
                <a:solidFill>
                  <a:srgbClr val="14233C"/>
                </a:solidFill>
                <a:latin typeface="Arial"/>
              </a:defRPr>
            </a:pPr>
            <a:r>
              <a:t>Algorithmic Novelty &amp; Technical Contribution</a:t>
            </a:r>
          </a:p>
        </p:txBody>
      </p:sp>
      <p:sp>
        <p:nvSpPr>
          <p:cNvPr id="4" name="TextBox 3"/>
          <p:cNvSpPr txBox="1"/>
          <p:nvPr/>
        </p:nvSpPr>
        <p:spPr>
          <a:xfrm>
            <a:off x="731520" y="6446520"/>
            <a:ext cx="10728655" cy="274320"/>
          </a:xfrm>
          <a:prstGeom prst="rect">
            <a:avLst/>
          </a:prstGeom>
          <a:noFill/>
        </p:spPr>
        <p:txBody>
          <a:bodyPr wrap="none" lIns="0" tIns="0" rIns="0" bIns="0">
            <a:spAutoFit/>
          </a:bodyPr>
          <a:lstStyle/>
          <a:p>
            <a:pPr>
              <a:defRPr sz="950">
                <a:solidFill>
                  <a:srgbClr val="697382"/>
                </a:solidFill>
                <a:latin typeface="Arial"/>
              </a:defRPr>
            </a:pPr>
            <a:r>
              <a:t>First Review (Oct 12, 2026) | Digital Logic Circuit Simulator | Markanda Meher &amp; Nikhil | Slide 9 of 12</a:t>
            </a:r>
          </a:p>
        </p:txBody>
      </p:sp>
      <p:sp>
        <p:nvSpPr>
          <p:cNvPr id="5" name="TextBox 4"/>
          <p:cNvSpPr txBox="1"/>
          <p:nvPr/>
        </p:nvSpPr>
        <p:spPr>
          <a:xfrm>
            <a:off x="731520" y="1463040"/>
            <a:ext cx="10728655" cy="4663440"/>
          </a:xfrm>
          <a:prstGeom prst="rect">
            <a:avLst/>
          </a:prstGeom>
          <a:noFill/>
        </p:spPr>
        <p:txBody>
          <a:bodyPr wrap="square">
            <a:spAutoFit/>
          </a:bodyPr>
          <a:lstStyle/>
          <a:p>
            <a:pPr>
              <a:spcAft>
                <a:spcPts val="200"/>
              </a:spcAft>
              <a:defRPr sz="1450" b="1">
                <a:solidFill>
                  <a:srgbClr val="14233C"/>
                </a:solidFill>
                <a:latin typeface="Arial"/>
              </a:defRPr>
            </a:pPr>
            <a:r>
              <a:t>1. Decoupled Dual-Phase Graph Validation</a:t>
            </a:r>
          </a:p>
          <a:p>
            <a:pPr>
              <a:spcAft>
                <a:spcPts val="1000"/>
              </a:spcAft>
              <a:defRPr sz="1200">
                <a:solidFill>
                  <a:srgbClr val="323C4B"/>
                </a:solidFill>
                <a:latin typeface="Arial"/>
              </a:defRPr>
            </a:pPr>
            <a:r>
              <a:t>Standard simulators typically rely either on Kahn's algorithm alone (which fails blindly on cycles without reporting the fault location) or DFS alone (which does not provide a levelized forward execution queue). Our contribution decouples cycle diagnosis from evaluation scheduling: Tarjan's 3-Color DFS is used purely for cycle localization, while Kahn's algorithm is applied strictly to validated DAGs.</a:t>
            </a:r>
          </a:p>
          <a:p>
            <a:pPr>
              <a:spcAft>
                <a:spcPts val="200"/>
              </a:spcAft>
              <a:defRPr sz="1450" b="1">
                <a:solidFill>
                  <a:srgbClr val="14233C"/>
                </a:solidFill>
                <a:latin typeface="Arial"/>
              </a:defRPr>
            </a:pPr>
            <a:r>
              <a:t>2. Dependency-Guaranteed Race-Free Execution in O(V + E)</a:t>
            </a:r>
          </a:p>
          <a:p>
            <a:pPr>
              <a:spcAft>
                <a:spcPts val="1000"/>
              </a:spcAft>
              <a:defRPr sz="1200">
                <a:solidFill>
                  <a:srgbClr val="323C4B"/>
                </a:solidFill>
                <a:latin typeface="Arial"/>
              </a:defRPr>
            </a:pPr>
            <a:r>
              <a:t>In physical combinational circuits, signal race conditions occur when downstream gates calculate before upstream inputs settle. Our topological scheduler enforces strict dependency invariance, guaranteeing that every gate evaluates only after all its driver gates are resolved in linear O(V + E) time.</a:t>
            </a:r>
          </a:p>
          <a:p>
            <a:pPr>
              <a:spcAft>
                <a:spcPts val="200"/>
              </a:spcAft>
              <a:defRPr sz="1450" b="1">
                <a:solidFill>
                  <a:srgbClr val="14233C"/>
                </a:solidFill>
                <a:latin typeface="Arial"/>
              </a:defRPr>
            </a:pPr>
            <a:r>
              <a:t>3. High-Performance O(1) Hash Map Gate Indexing</a:t>
            </a:r>
          </a:p>
          <a:p>
            <a:pPr>
              <a:spcAft>
                <a:spcPts val="1000"/>
              </a:spcAft>
              <a:defRPr sz="1200">
                <a:solidFill>
                  <a:srgbClr val="323C4B"/>
                </a:solidFill>
                <a:latin typeface="Arial"/>
              </a:defRPr>
            </a:pPr>
            <a:r>
              <a:t>Rather than relying on continuous O(V) array scans, our simulator indexes gates, input pins, and wire nets via hash maps with unique string identifiers. This enables instant gate state updates and predecessor lookups during signal propagation.</a:t>
            </a:r>
          </a:p>
          <a:p>
            <a:pPr>
              <a:spcAft>
                <a:spcPts val="200"/>
              </a:spcAft>
              <a:defRPr sz="1450" b="1">
                <a:solidFill>
                  <a:srgbClr val="14233C"/>
                </a:solidFill>
                <a:latin typeface="Arial"/>
              </a:defRPr>
            </a:pPr>
            <a:r>
              <a:t>4. Automated Exhaustive Bitwise Verification Engine</a:t>
            </a:r>
          </a:p>
          <a:p>
            <a:pPr>
              <a:spcAft>
                <a:spcPts val="1000"/>
              </a:spcAft>
              <a:defRPr sz="1200">
                <a:solidFill>
                  <a:srgbClr val="323C4B"/>
                </a:solidFill>
                <a:latin typeface="Arial"/>
              </a:defRPr>
            </a:pPr>
            <a:r>
              <a:t>Implements an automated truth table generator evaluating all 2^N input vectors. Computes expected Boolean formulas against simulated outputs, achieving complete functional verification in milliseconds.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11480"/>
            <a:ext cx="10728655" cy="22860"/>
          </a:xfrm>
          <a:prstGeom prst="rect">
            <a:avLst/>
          </a:prstGeom>
          <a:solidFill>
            <a:srgbClr val="1C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spcAft>
                <a:spcPts val="200"/>
              </a:spcAft>
              <a:defRPr sz="1050" b="1">
                <a:solidFill>
                  <a:srgbClr val="1C5AA0"/>
                </a:solidFill>
                <a:latin typeface="Arial"/>
              </a:defRPr>
            </a:pPr>
            <a:r>
              <a:t>4. ALGORITHMS &amp; PSEUDOCODE</a:t>
            </a:r>
          </a:p>
          <a:p>
            <a:pPr>
              <a:defRPr sz="2200" b="1">
                <a:solidFill>
                  <a:srgbClr val="14233C"/>
                </a:solidFill>
                <a:latin typeface="Arial"/>
              </a:defRPr>
            </a:pPr>
            <a:r>
              <a:t>Module 1 (Graph Netlist) &amp; Module 2 (3-Color DFS Cycle Detection)</a:t>
            </a:r>
          </a:p>
        </p:txBody>
      </p:sp>
      <p:sp>
        <p:nvSpPr>
          <p:cNvPr id="4" name="TextBox 3"/>
          <p:cNvSpPr txBox="1"/>
          <p:nvPr/>
        </p:nvSpPr>
        <p:spPr>
          <a:xfrm>
            <a:off x="731520" y="6446520"/>
            <a:ext cx="10728655" cy="274320"/>
          </a:xfrm>
          <a:prstGeom prst="rect">
            <a:avLst/>
          </a:prstGeom>
          <a:noFill/>
        </p:spPr>
        <p:txBody>
          <a:bodyPr wrap="none" lIns="0" tIns="0" rIns="0" bIns="0">
            <a:spAutoFit/>
          </a:bodyPr>
          <a:lstStyle/>
          <a:p>
            <a:pPr>
              <a:defRPr sz="950">
                <a:solidFill>
                  <a:srgbClr val="697382"/>
                </a:solidFill>
                <a:latin typeface="Arial"/>
              </a:defRPr>
            </a:pPr>
            <a:r>
              <a:t>First Review (Oct 12, 2026) | Digital Logic Circuit Simulator | Markanda Meher &amp; Nikhil | Slide 10 of 12</a:t>
            </a:r>
          </a:p>
        </p:txBody>
      </p:sp>
      <p:sp>
        <p:nvSpPr>
          <p:cNvPr id="5" name="Rectangle 4"/>
          <p:cNvSpPr/>
          <p:nvPr/>
        </p:nvSpPr>
        <p:spPr>
          <a:xfrm>
            <a:off x="731520" y="1463040"/>
            <a:ext cx="5120640" cy="18288"/>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08760"/>
            <a:ext cx="5120640" cy="4480560"/>
          </a:xfrm>
          <a:prstGeom prst="rect">
            <a:avLst/>
          </a:prstGeom>
          <a:noFill/>
        </p:spPr>
        <p:txBody>
          <a:bodyPr wrap="square">
            <a:spAutoFit/>
          </a:bodyPr>
          <a:lstStyle/>
          <a:p>
            <a:pPr>
              <a:spcAft>
                <a:spcPts val="400"/>
              </a:spcAft>
              <a:defRPr sz="1300" b="1">
                <a:solidFill>
                  <a:srgbClr val="14233C"/>
                </a:solidFill>
                <a:latin typeface="Arial"/>
              </a:defRPr>
            </a:pPr>
            <a:r>
              <a:t>Algorithm 1: Netlist Graph Construction</a:t>
            </a:r>
          </a:p>
          <a:p>
            <a:pPr>
              <a:defRPr sz="1000">
                <a:solidFill>
                  <a:srgbClr val="0F172A"/>
                </a:solidFill>
                <a:latin typeface="Consolas"/>
              </a:defRPr>
            </a:pPr>
            <a:r>
              <a:t>Input:  Gates V = {g_1, g_2, ...}, Wires E = {(u, v), ...}</a:t>
            </a:r>
            <a:br/>
            <a:r>
              <a:t>Output: Adjacency list adjList, In-degree table inDegree</a:t>
            </a:r>
            <a:br/>
            <a:br/>
            <a:r>
              <a:t>1:  adjList  = HashMap&lt;GateID, List&lt;GateID&gt;&gt;()</a:t>
            </a:r>
            <a:br/>
            <a:r>
              <a:t>2:  inDegree = HashMap&lt;GateID, Integer&gt;()</a:t>
            </a:r>
            <a:br/>
            <a:r>
              <a:t>3:  For each gate g in V do:</a:t>
            </a:r>
            <a:br/>
            <a:r>
              <a:t>4:      adjList[g.id] = empty_list()</a:t>
            </a:r>
            <a:br/>
            <a:r>
              <a:t>5:      inDegree[g.id] = 0</a:t>
            </a:r>
            <a:br/>
            <a:r>
              <a:t>6:  End For</a:t>
            </a:r>
            <a:br/>
            <a:r>
              <a:t>7:  For each wire (u, v) in E do:</a:t>
            </a:r>
            <a:br/>
            <a:r>
              <a:t>8:      // u is driver gate, v is driven input</a:t>
            </a:r>
            <a:br/>
            <a:r>
              <a:t>9:      adjList[u].append(v)</a:t>
            </a:r>
            <a:br/>
            <a:r>
              <a:t>10:     inDegree[v] = inDegree[v] + 1</a:t>
            </a:r>
            <a:br/>
            <a:r>
              <a:t>11: End For</a:t>
            </a:r>
            <a:br/>
            <a:r>
              <a:t>12: Return (adjList, inDegree)</a:t>
            </a:r>
            <a:br/>
            <a:br/>
            <a:r>
              <a:t>Complexity: O(V + E) time, O(V + E) space</a:t>
            </a:r>
          </a:p>
        </p:txBody>
      </p:sp>
      <p:sp>
        <p:nvSpPr>
          <p:cNvPr id="7" name="Rectangle 6"/>
          <p:cNvSpPr/>
          <p:nvPr/>
        </p:nvSpPr>
        <p:spPr>
          <a:xfrm>
            <a:off x="6309360" y="1463040"/>
            <a:ext cx="5120640" cy="18288"/>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508760"/>
            <a:ext cx="5120640" cy="4480560"/>
          </a:xfrm>
          <a:prstGeom prst="rect">
            <a:avLst/>
          </a:prstGeom>
          <a:noFill/>
        </p:spPr>
        <p:txBody>
          <a:bodyPr wrap="square">
            <a:spAutoFit/>
          </a:bodyPr>
          <a:lstStyle/>
          <a:p>
            <a:pPr>
              <a:spcAft>
                <a:spcPts val="400"/>
              </a:spcAft>
              <a:defRPr sz="1300" b="1">
                <a:solidFill>
                  <a:srgbClr val="14233C"/>
                </a:solidFill>
                <a:latin typeface="Arial"/>
              </a:defRPr>
            </a:pPr>
            <a:r>
              <a:t>Algorithm 2: Tarjan's 3-Color DFS Cycle Detection</a:t>
            </a:r>
          </a:p>
          <a:p>
            <a:pPr>
              <a:defRPr sz="1000">
                <a:solidFill>
                  <a:srgbClr val="0F172A"/>
                </a:solidFill>
                <a:latin typeface="Consolas"/>
              </a:defRPr>
            </a:pPr>
            <a:r>
              <a:t>Input:  Current gate u, Color map color, adjList</a:t>
            </a:r>
            <a:br/>
            <a:r>
              <a:t>Output: Boolean (TRUE if cycle exists, FALSE otherwise)</a:t>
            </a:r>
            <a:br/>
            <a:br/>
            <a:r>
              <a:t>1:  color[u] = GRAY  // Gate added to active recursion stack</a:t>
            </a:r>
            <a:br/>
            <a:r>
              <a:t>2:  For each successor v in adjList[u] do:</a:t>
            </a:r>
            <a:br/>
            <a:r>
              <a:t>3:      If color[v] == GRAY then:</a:t>
            </a:r>
            <a:br/>
            <a:r>
              <a:t>4:          RecordCycleEdge(u, v)</a:t>
            </a:r>
            <a:br/>
            <a:r>
              <a:t>5:          Return TRUE  // Back-edge found: Cycle trapped!</a:t>
            </a:r>
            <a:br/>
            <a:r>
              <a:t>6:      End If</a:t>
            </a:r>
            <a:br/>
            <a:r>
              <a:t>7:      If color[v] == WHITE then:</a:t>
            </a:r>
            <a:br/>
            <a:r>
              <a:t>8:          If DetectCycle(v, color, adjList) == TRUE then:</a:t>
            </a:r>
            <a:br/>
            <a:r>
              <a:t>9:              Return TRUE</a:t>
            </a:r>
            <a:br/>
            <a:r>
              <a:t>10:         End If</a:t>
            </a:r>
            <a:br/>
            <a:r>
              <a:t>11:     End If</a:t>
            </a:r>
            <a:br/>
            <a:r>
              <a:t>12: End For</a:t>
            </a:r>
            <a:br/>
            <a:r>
              <a:t>13: color[u] = BLACK // Subtree verified acyclic</a:t>
            </a:r>
            <a:br/>
            <a:r>
              <a:t>14: Return FALSE</a:t>
            </a:r>
            <a:br/>
            <a:br/>
            <a:r>
              <a:t>Complexity: O(V + E) time, O(V) recursion stack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11480"/>
            <a:ext cx="10728655" cy="22860"/>
          </a:xfrm>
          <a:prstGeom prst="rect">
            <a:avLst/>
          </a:prstGeom>
          <a:solidFill>
            <a:srgbClr val="1C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spcAft>
                <a:spcPts val="200"/>
              </a:spcAft>
              <a:defRPr sz="1050" b="1">
                <a:solidFill>
                  <a:srgbClr val="1C5AA0"/>
                </a:solidFill>
                <a:latin typeface="Arial"/>
              </a:defRPr>
            </a:pPr>
            <a:r>
              <a:t>4. ALGORITHMS &amp; PSEUDOCODE</a:t>
            </a:r>
          </a:p>
          <a:p>
            <a:pPr>
              <a:defRPr sz="2200" b="1">
                <a:solidFill>
                  <a:srgbClr val="14233C"/>
                </a:solidFill>
                <a:latin typeface="Arial"/>
              </a:defRPr>
            </a:pPr>
            <a:r>
              <a:t>Module 3 (Kahn's Scheduler) &amp; Module 4 (Logic Execution)</a:t>
            </a:r>
          </a:p>
        </p:txBody>
      </p:sp>
      <p:sp>
        <p:nvSpPr>
          <p:cNvPr id="4" name="TextBox 3"/>
          <p:cNvSpPr txBox="1"/>
          <p:nvPr/>
        </p:nvSpPr>
        <p:spPr>
          <a:xfrm>
            <a:off x="731520" y="6446520"/>
            <a:ext cx="10728655" cy="274320"/>
          </a:xfrm>
          <a:prstGeom prst="rect">
            <a:avLst/>
          </a:prstGeom>
          <a:noFill/>
        </p:spPr>
        <p:txBody>
          <a:bodyPr wrap="none" lIns="0" tIns="0" rIns="0" bIns="0">
            <a:spAutoFit/>
          </a:bodyPr>
          <a:lstStyle/>
          <a:p>
            <a:pPr>
              <a:defRPr sz="950">
                <a:solidFill>
                  <a:srgbClr val="697382"/>
                </a:solidFill>
                <a:latin typeface="Arial"/>
              </a:defRPr>
            </a:pPr>
            <a:r>
              <a:t>First Review (Oct 12, 2026) | Digital Logic Circuit Simulator | Markanda Meher &amp; Nikhil | Slide 11 of 12</a:t>
            </a:r>
          </a:p>
        </p:txBody>
      </p:sp>
      <p:sp>
        <p:nvSpPr>
          <p:cNvPr id="5" name="Rectangle 4"/>
          <p:cNvSpPr/>
          <p:nvPr/>
        </p:nvSpPr>
        <p:spPr>
          <a:xfrm>
            <a:off x="731520" y="1463040"/>
            <a:ext cx="5120640" cy="18288"/>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08760"/>
            <a:ext cx="5120640" cy="4480560"/>
          </a:xfrm>
          <a:prstGeom prst="rect">
            <a:avLst/>
          </a:prstGeom>
          <a:noFill/>
        </p:spPr>
        <p:txBody>
          <a:bodyPr wrap="square">
            <a:spAutoFit/>
          </a:bodyPr>
          <a:lstStyle/>
          <a:p>
            <a:pPr>
              <a:spcAft>
                <a:spcPts val="400"/>
              </a:spcAft>
              <a:defRPr sz="1300" b="1">
                <a:solidFill>
                  <a:srgbClr val="14233C"/>
                </a:solidFill>
                <a:latin typeface="Arial"/>
              </a:defRPr>
            </a:pPr>
            <a:r>
              <a:t>Algorithm 3: Kahn's In-Degree Topo Scheduler</a:t>
            </a:r>
          </a:p>
          <a:p>
            <a:pPr>
              <a:defRPr sz="1000">
                <a:solidFill>
                  <a:srgbClr val="0F172A"/>
                </a:solidFill>
                <a:latin typeface="Consolas"/>
              </a:defRPr>
            </a:pPr>
            <a:r>
              <a:t>Input:  Gates V, In-degree table inDegree, adjList</a:t>
            </a:r>
            <a:br/>
            <a:r>
              <a:t>Output: Topologically ordered execution list evalOrder</a:t>
            </a:r>
            <a:br/>
            <a:br/>
            <a:r>
              <a:t>1:  Q = EmptyQueue()</a:t>
            </a:r>
            <a:br/>
            <a:r>
              <a:t>2:  For each gate g in V do:</a:t>
            </a:r>
            <a:br/>
            <a:r>
              <a:t>3:      If inDegree[g] == 0 then: Q.push(g)</a:t>
            </a:r>
            <a:br/>
            <a:r>
              <a:t>4:  End For</a:t>
            </a:r>
            <a:br/>
            <a:r>
              <a:t>5:  evalOrder = []</a:t>
            </a:r>
            <a:br/>
            <a:r>
              <a:t>6:  While Q is not empty do:</a:t>
            </a:r>
            <a:br/>
            <a:r>
              <a:t>7:      u = Q.pop()</a:t>
            </a:r>
            <a:br/>
            <a:r>
              <a:t>8:      evalOrder.append(u)</a:t>
            </a:r>
            <a:br/>
            <a:r>
              <a:t>9:      For each successor v in adjList[u] do:</a:t>
            </a:r>
            <a:br/>
            <a:r>
              <a:t>10:         inDegree[v] = inDegree[v] - 1</a:t>
            </a:r>
            <a:br/>
            <a:r>
              <a:t>11:         If inDegree[v] == 0 then: Q.push(v)</a:t>
            </a:r>
            <a:br/>
            <a:r>
              <a:t>12:     End For</a:t>
            </a:r>
            <a:br/>
            <a:r>
              <a:t>13: End While</a:t>
            </a:r>
            <a:br/>
            <a:r>
              <a:t>14: Return evalOrder</a:t>
            </a:r>
            <a:br/>
            <a:br/>
            <a:r>
              <a:t>Complexity: O(V + E) time, O(V) queue memory</a:t>
            </a:r>
          </a:p>
        </p:txBody>
      </p:sp>
      <p:sp>
        <p:nvSpPr>
          <p:cNvPr id="7" name="Rectangle 6"/>
          <p:cNvSpPr/>
          <p:nvPr/>
        </p:nvSpPr>
        <p:spPr>
          <a:xfrm>
            <a:off x="6309360" y="1463040"/>
            <a:ext cx="5120640" cy="18288"/>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508760"/>
            <a:ext cx="5120640" cy="4480560"/>
          </a:xfrm>
          <a:prstGeom prst="rect">
            <a:avLst/>
          </a:prstGeom>
          <a:noFill/>
        </p:spPr>
        <p:txBody>
          <a:bodyPr wrap="square">
            <a:spAutoFit/>
          </a:bodyPr>
          <a:lstStyle/>
          <a:p>
            <a:pPr>
              <a:spcAft>
                <a:spcPts val="400"/>
              </a:spcAft>
              <a:defRPr sz="1300" b="1">
                <a:solidFill>
                  <a:srgbClr val="14233C"/>
                </a:solidFill>
                <a:latin typeface="Arial"/>
              </a:defRPr>
            </a:pPr>
            <a:r>
              <a:t>Algorithm 4: Gate Simulation &amp; Truth Table Engine</a:t>
            </a:r>
          </a:p>
          <a:p>
            <a:pPr>
              <a:defRPr sz="950">
                <a:solidFill>
                  <a:srgbClr val="0F172A"/>
                </a:solidFill>
                <a:latin typeface="Consolas"/>
              </a:defRPr>
            </a:pPr>
            <a:r>
              <a:t>Algorithm SimulatePass(evalOrder, inputVector):</a:t>
            </a:r>
            <a:br/>
            <a:r>
              <a:t>1:  values = HashMap&lt;GateID, Boolean&gt;()</a:t>
            </a:r>
            <a:br/>
            <a:r>
              <a:t>2:  For each gate g in evalOrder do:</a:t>
            </a:r>
            <a:br/>
            <a:r>
              <a:t>3:      If g.type == INPUT then:</a:t>
            </a:r>
            <a:br/>
            <a:r>
              <a:t>4:          values[g.id] = inputVector[g.id]</a:t>
            </a:r>
            <a:br/>
            <a:r>
              <a:t>5:      Else:</a:t>
            </a:r>
            <a:br/>
            <a:r>
              <a:t>6:          inVals = [values[p] for p in g.predecessors]</a:t>
            </a:r>
            <a:br/>
            <a:r>
              <a:t>7:          values[g.id] = EvaluateGateLogic(g.type, inVals)</a:t>
            </a:r>
            <a:br/>
            <a:r>
              <a:t>8:      End If</a:t>
            </a:r>
            <a:br/>
            <a:r>
              <a:t>9:  End For</a:t>
            </a:r>
            <a:br/>
            <a:r>
              <a:t>10: Return values</a:t>
            </a:r>
            <a:br/>
            <a:br/>
            <a:r>
              <a:t>Algorithm GenerateTruthTable(N_inputs, evalOrder):</a:t>
            </a:r>
            <a:br/>
            <a:r>
              <a:t>1:  For row = 0 to (2^N - 1) do:</a:t>
            </a:r>
            <a:br/>
            <a:r>
              <a:t>2:      inVec = DecodeBinaryRow(row, N_inputs)</a:t>
            </a:r>
            <a:br/>
            <a:r>
              <a:t>3:      outVec = SimulatePass(evalOrder, inVec)</a:t>
            </a:r>
            <a:br/>
            <a:r>
              <a:t>4:      PrintTruthTableRow(inVec, outVec)</a:t>
            </a:r>
            <a:br/>
            <a:r>
              <a:t>5:  End For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11480"/>
            <a:ext cx="10728655" cy="22860"/>
          </a:xfrm>
          <a:prstGeom prst="rect">
            <a:avLst/>
          </a:prstGeom>
          <a:solidFill>
            <a:srgbClr val="1C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spcAft>
                <a:spcPts val="200"/>
              </a:spcAft>
              <a:defRPr sz="1050" b="1">
                <a:solidFill>
                  <a:srgbClr val="1C5AA0"/>
                </a:solidFill>
                <a:latin typeface="Arial"/>
              </a:defRPr>
            </a:pPr>
            <a:r>
              <a:t>5. DATASET &amp; BENCHMARK SUITE</a:t>
            </a:r>
          </a:p>
          <a:p>
            <a:pPr>
              <a:defRPr sz="2200" b="1">
                <a:solidFill>
                  <a:srgbClr val="14233C"/>
                </a:solidFill>
                <a:latin typeface="Arial"/>
              </a:defRPr>
            </a:pPr>
            <a:r>
              <a:t>IEEE ISCAS '85 Benchmark Circuit Suite</a:t>
            </a:r>
          </a:p>
        </p:txBody>
      </p:sp>
      <p:sp>
        <p:nvSpPr>
          <p:cNvPr id="4" name="TextBox 3"/>
          <p:cNvSpPr txBox="1"/>
          <p:nvPr/>
        </p:nvSpPr>
        <p:spPr>
          <a:xfrm>
            <a:off x="731520" y="6446520"/>
            <a:ext cx="10728655" cy="274320"/>
          </a:xfrm>
          <a:prstGeom prst="rect">
            <a:avLst/>
          </a:prstGeom>
          <a:noFill/>
        </p:spPr>
        <p:txBody>
          <a:bodyPr wrap="none" lIns="0" tIns="0" rIns="0" bIns="0">
            <a:spAutoFit/>
          </a:bodyPr>
          <a:lstStyle/>
          <a:p>
            <a:pPr>
              <a:defRPr sz="950">
                <a:solidFill>
                  <a:srgbClr val="697382"/>
                </a:solidFill>
                <a:latin typeface="Arial"/>
              </a:defRPr>
            </a:pPr>
            <a:r>
              <a:t>First Review (Oct 12, 2026) | Digital Logic Circuit Simulator | Markanda Meher &amp; Nikhil | Slide 12 of 12</a:t>
            </a:r>
          </a:p>
        </p:txBody>
      </p:sp>
      <p:sp>
        <p:nvSpPr>
          <p:cNvPr id="5" name="TextBox 4"/>
          <p:cNvSpPr txBox="1"/>
          <p:nvPr/>
        </p:nvSpPr>
        <p:spPr>
          <a:xfrm>
            <a:off x="731520" y="1463040"/>
            <a:ext cx="5120640" cy="4663440"/>
          </a:xfrm>
          <a:prstGeom prst="rect">
            <a:avLst/>
          </a:prstGeom>
          <a:noFill/>
        </p:spPr>
        <p:txBody>
          <a:bodyPr wrap="square">
            <a:spAutoFit/>
          </a:bodyPr>
          <a:lstStyle/>
          <a:p>
            <a:pPr>
              <a:spcAft>
                <a:spcPts val="1400"/>
              </a:spcAft>
              <a:defRPr sz="1600" b="1">
                <a:solidFill>
                  <a:srgbClr val="14233C"/>
                </a:solidFill>
                <a:latin typeface="Arial"/>
              </a:defRPr>
            </a:pPr>
            <a:r>
              <a:t>Benchmark Origin &amp; Download Links</a:t>
            </a:r>
          </a:p>
          <a:p>
            <a:pPr>
              <a:spcAft>
                <a:spcPts val="800"/>
              </a:spcAft>
              <a:defRPr sz="1200" b="1">
                <a:solidFill>
                  <a:srgbClr val="323C4B"/>
                </a:solidFill>
                <a:latin typeface="Arial"/>
              </a:defRPr>
            </a:pPr>
            <a:r>
              <a:t>• Benchmark Suite: </a:t>
            </a:r>
            <a:r>
              <a:rPr b="0">
                <a:solidFill>
                  <a:srgbClr val="323C4B"/>
                </a:solidFill>
              </a:rPr>
              <a:t>IEEE ISCAS '85 (International Symposium on Circuits and Systems) Benchmark Suite.</a:t>
            </a:r>
          </a:p>
          <a:p>
            <a:pPr>
              <a:spcAft>
                <a:spcPts val="800"/>
              </a:spcAft>
              <a:defRPr sz="1200" b="1">
                <a:solidFill>
                  <a:srgbClr val="323C4B"/>
                </a:solidFill>
                <a:latin typeface="Arial"/>
              </a:defRPr>
            </a:pPr>
            <a:r>
              <a:t>• Industry Standard Role: </a:t>
            </a:r>
            <a:r>
              <a:rPr b="0">
                <a:solidFill>
                  <a:srgbClr val="323C4B"/>
                </a:solidFill>
              </a:rPr>
              <a:t>The universally recognized reference standard in Electronic Design Automation (EDA) and academic CAD research for combinational circuit validation and test pattern generation.</a:t>
            </a:r>
          </a:p>
          <a:p>
            <a:pPr>
              <a:spcAft>
                <a:spcPts val="800"/>
              </a:spcAft>
              <a:defRPr sz="1200" b="1">
                <a:solidFill>
                  <a:srgbClr val="323C4B"/>
                </a:solidFill>
                <a:latin typeface="Arial"/>
              </a:defRPr>
            </a:pPr>
            <a:r>
              <a:t>• Primary Repository Link: </a:t>
            </a:r>
            <a:r>
              <a:rPr b="0">
                <a:solidFill>
                  <a:srgbClr val="323C4B"/>
                </a:solidFill>
              </a:rPr>
              <a:t>University of Tennessee EECS CAD Lab:
https://web.eecs.utk.edu/~troy/benchmark/</a:t>
            </a:r>
          </a:p>
          <a:p>
            <a:pPr>
              <a:spcAft>
                <a:spcPts val="800"/>
              </a:spcAft>
              <a:defRPr sz="1200" b="1">
                <a:solidFill>
                  <a:srgbClr val="323C4B"/>
                </a:solidFill>
                <a:latin typeface="Arial"/>
              </a:defRPr>
            </a:pPr>
            <a:r>
              <a:t>• Mirror Repository Link: </a:t>
            </a:r>
            <a:r>
              <a:rPr b="0">
                <a:solidFill>
                  <a:srgbClr val="323C4B"/>
                </a:solidFill>
              </a:rPr>
              <a:t>Czech Technical University (FEE CTU):
https://ddd.fit.cvut.cz/prj/Benchmarks/</a:t>
            </a:r>
          </a:p>
          <a:p>
            <a:pPr>
              <a:spcAft>
                <a:spcPts val="800"/>
              </a:spcAft>
              <a:defRPr sz="1200" b="1">
                <a:solidFill>
                  <a:srgbClr val="323C4B"/>
                </a:solidFill>
                <a:latin typeface="Arial"/>
              </a:defRPr>
            </a:pPr>
            <a:r>
              <a:t>• Netlist File Syntax (.bench): </a:t>
            </a:r>
            <a:r>
              <a:rPr b="0">
                <a:solidFill>
                  <a:srgbClr val="323C4B"/>
                </a:solidFill>
              </a:rPr>
              <a:t>Human-readable ASCII grammar defining Primary Inputs (INPUT(x)), Primary Outputs (OUTPUT(y)), and logical equations (e.g., 10 = NAND(1, 3)).</a:t>
            </a:r>
          </a:p>
        </p:txBody>
      </p:sp>
      <p:sp>
        <p:nvSpPr>
          <p:cNvPr id="6" name="TextBox 5"/>
          <p:cNvSpPr txBox="1"/>
          <p:nvPr/>
        </p:nvSpPr>
        <p:spPr>
          <a:xfrm>
            <a:off x="6309360" y="1463040"/>
            <a:ext cx="5120640" cy="4663440"/>
          </a:xfrm>
          <a:prstGeom prst="rect">
            <a:avLst/>
          </a:prstGeom>
          <a:noFill/>
        </p:spPr>
        <p:txBody>
          <a:bodyPr wrap="square">
            <a:spAutoFit/>
          </a:bodyPr>
          <a:lstStyle/>
          <a:p>
            <a:pPr>
              <a:spcAft>
                <a:spcPts val="1400"/>
              </a:spcAft>
              <a:defRPr sz="1600" b="1">
                <a:solidFill>
                  <a:srgbClr val="1C5AA0"/>
                </a:solidFill>
                <a:latin typeface="Arial"/>
              </a:defRPr>
            </a:pPr>
            <a:r>
              <a:t>Benchmark Netlists &amp; Project Role</a:t>
            </a:r>
          </a:p>
          <a:p>
            <a:pPr>
              <a:spcAft>
                <a:spcPts val="800"/>
              </a:spcAft>
              <a:defRPr sz="1200" b="1">
                <a:solidFill>
                  <a:srgbClr val="323C4B"/>
                </a:solidFill>
                <a:latin typeface="Arial"/>
              </a:defRPr>
            </a:pPr>
            <a:r>
              <a:t>• c17 (6 Gates, 5 Inputs, 2 Outputs): </a:t>
            </a:r>
            <a:r>
              <a:rPr b="0">
                <a:solidFill>
                  <a:srgbClr val="323C4B"/>
                </a:solidFill>
              </a:rPr>
              <a:t>Smallest ISCAS netlist; used for fundamental sanity checks and exhaustive 32-row truth table verification against IEEE golden output specifications.</a:t>
            </a:r>
          </a:p>
          <a:p>
            <a:pPr>
              <a:spcAft>
                <a:spcPts val="800"/>
              </a:spcAft>
              <a:defRPr sz="1200" b="1">
                <a:solidFill>
                  <a:srgbClr val="323C4B"/>
                </a:solidFill>
                <a:latin typeface="Arial"/>
              </a:defRPr>
            </a:pPr>
            <a:r>
              <a:t>• c432 (160 Gates, 36 Inputs, 7 Outputs): </a:t>
            </a:r>
            <a:r>
              <a:rPr b="0">
                <a:solidFill>
                  <a:srgbClr val="323C4B"/>
                </a:solidFill>
              </a:rPr>
              <a:t>27-channel interrupt controller; evaluates topological scheduling across medium-scale multi-fanout logic trees.</a:t>
            </a:r>
          </a:p>
          <a:p>
            <a:pPr>
              <a:spcAft>
                <a:spcPts val="800"/>
              </a:spcAft>
              <a:defRPr sz="1200" b="1">
                <a:solidFill>
                  <a:srgbClr val="323C4B"/>
                </a:solidFill>
                <a:latin typeface="Arial"/>
              </a:defRPr>
            </a:pPr>
            <a:r>
              <a:t>• c499 (202 Gates, 41 Inputs, 32 Outputs): </a:t>
            </a:r>
            <a:r>
              <a:rPr b="0">
                <a:solidFill>
                  <a:srgbClr val="323C4B"/>
                </a:solidFill>
              </a:rPr>
              <a:t>32-bit single-error-correcting circuit (SEC-DED); verifies deep logic paths and XOR/NAND propagation.</a:t>
            </a:r>
          </a:p>
          <a:p>
            <a:pPr>
              <a:spcAft>
                <a:spcPts val="800"/>
              </a:spcAft>
              <a:defRPr sz="1200" b="1">
                <a:solidFill>
                  <a:srgbClr val="323C4B"/>
                </a:solidFill>
                <a:latin typeface="Arial"/>
              </a:defRPr>
            </a:pPr>
            <a:r>
              <a:t>• c880 (383 Gates, 60 Inputs, 26 Outputs): </a:t>
            </a:r>
            <a:r>
              <a:rPr b="0">
                <a:solidFill>
                  <a:srgbClr val="323C4B"/>
                </a:solidFill>
              </a:rPr>
              <a:t>8-bit Arithmetic Logic Unit (ALU); validates linear O(V + E) runtime scaling and memory efficiency.</a:t>
            </a:r>
          </a:p>
          <a:p>
            <a:pPr>
              <a:spcAft>
                <a:spcPts val="800"/>
              </a:spcAft>
              <a:defRPr sz="1200" b="1">
                <a:solidFill>
                  <a:srgbClr val="323C4B"/>
                </a:solidFill>
                <a:latin typeface="Arial"/>
              </a:defRPr>
            </a:pPr>
            <a:r>
              <a:t>• Validation Utility in Review: </a:t>
            </a:r>
            <a:r>
              <a:rPr b="0">
                <a:solidFill>
                  <a:srgbClr val="323C4B"/>
                </a:solidFill>
              </a:rPr>
              <a:t>Demonstrates algorithmic correctness against industry standard benchmarks rather than ad-hoc custom circuits.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